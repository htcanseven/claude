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5784" cy="42803064"/>
  <p:notesSz cx="42803064" cy="3027578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Solid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Layer 1</c:v>
                  </c:pt>
                  <c:pt idx="1">
                    <c:v>Layer 2</c:v>
                  </c:pt>
                  <c:pt idx="2">
                    <c:v>Layer 3</c:v>
                  </c:pt>
                  <c:pt idx="3">
                    <c:v>Layer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2002</c:v>
                </c:pt>
                <c:pt idx="1">
                  <c:v>800.2</c:v>
                </c:pt>
                <c:pt idx="2">
                  <c:v>273.5</c:v>
                </c:pt>
                <c:pt idx="3">
                  <c:v>32.5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Round channel</c:v>
                </c:pt>
              </c:strCache>
            </c:strRef>
          </c:tx>
          <c:spPr>
            <a:solidFill>
              <a:srgbClr val="199E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Layer 1</c:v>
                  </c:pt>
                  <c:pt idx="1">
                    <c:v>Layer 2</c:v>
                  </c:pt>
                  <c:pt idx="2">
                    <c:v>Layer 3</c:v>
                  </c:pt>
                  <c:pt idx="3">
                    <c:v>Layer 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1988.3</c:v>
                </c:pt>
                <c:pt idx="1">
                  <c:v>794.1</c:v>
                </c:pt>
                <c:pt idx="2">
                  <c:v>271.7</c:v>
                </c:pt>
                <c:pt idx="3">
                  <c:v>32.8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Rectangular channel</c:v>
                </c:pt>
              </c:strCache>
            </c:strRef>
          </c:tx>
          <c:spPr>
            <a:solidFill>
              <a:srgbClr val="E85D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Layer 1</c:v>
                  </c:pt>
                  <c:pt idx="1">
                    <c:v>Layer 2</c:v>
                  </c:pt>
                  <c:pt idx="2">
                    <c:v>Layer 3</c:v>
                  </c:pt>
                  <c:pt idx="3">
                    <c:v>Layer 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1992.7</c:v>
                </c:pt>
                <c:pt idx="1">
                  <c:v>796.7</c:v>
                </c:pt>
                <c:pt idx="2">
                  <c:v>272.3</c:v>
                </c:pt>
                <c:pt idx="3">
                  <c:v>32.4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overlap val="-6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0"/>
          <c:min val="0"/>
        </c:scaling>
        <c:delete val="0"/>
        <c:axPos val="l"/>
        <c:majorGridlines>
          <c:spPr>
            <a:ln w="9525" cap="flat">
              <a:solidFill>
                <a:srgbClr val="E3E3E3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800">
              <a:solidFill>
                <a:srgbClr val="333333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6" Type="http://schemas.openxmlformats.org/officeDocument/2006/relationships/image" Target="../media/image-1-5.png"/><Relationship Id="rId7" Type="http://schemas.openxmlformats.org/officeDocument/2006/relationships/image" Target="../media/image-1-6.png"/><Relationship Id="rId8" Type="http://schemas.openxmlformats.org/officeDocument/2006/relationships/image" Target="../media/image-1-7.png"/><Relationship Id="rId9" Type="http://schemas.openxmlformats.org/officeDocument/2006/relationships/image" Target="../media/image-1-8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75784" cy="329184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" name="Image 0" descr="/tmp/claude-0/-home-user-Claude/552a5e84-5d26-52a8-a9c0-bcee294af950/scratchpad/poster/figs/lut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9112" y="932688"/>
            <a:ext cx="4105818" cy="1426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39112" y="3639312"/>
            <a:ext cx="26197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OF COOLING CHANNEL SHAPE ON THE PERFORMANCE OF HOLLOW HAIRPIN WINDINGS</a:t>
            </a:r>
            <a:endParaRPr lang="en-US" sz="7800" dirty="0"/>
          </a:p>
        </p:txBody>
      </p:sp>
      <p:sp>
        <p:nvSpPr>
          <p:cNvPr id="5" name="Text 2"/>
          <p:cNvSpPr/>
          <p:nvPr/>
        </p:nvSpPr>
        <p:spPr>
          <a:xfrm>
            <a:off x="2039112" y="5989320"/>
            <a:ext cx="26197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Electromagnetic–thermal analysis and multi-objective shape optimization of direct oil-cooled hairpin windings for traction motors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039112" y="744321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TEAM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2039112" y="7918704"/>
            <a:ext cx="18059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Hüseyin Tayyer Canseven¹ · Pratik Bisale¹ · Ilya Petrov¹ · Lassi Aarniovuori¹ · Juho Montonen² · Juha Pyrhönen¹</a:t>
            </a:r>
            <a:endParaRPr lang="en-US" sz="2600" dirty="0"/>
          </a:p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¹ Department of Electrical Engineering, LUT University, Finland      ² Danfoss Editron, Lappeenranta, Finland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0372832" y="7443216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2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the authors' ICEM 2026</a:t>
            </a:r>
            <a:endParaRPr lang="en-US" sz="21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2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ECCE 2026 conference papers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2039112" y="9646920"/>
            <a:ext cx="8001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2039112" y="10415016"/>
            <a:ext cx="8001000" cy="4435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Electrified traction pushes motors to higher speeds and frequencies — hairpin windings are the standard thanks to high slot fill and automated manufacturing.</a:t>
            </a:r>
            <a:endParaRPr lang="en-US" sz="25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Skin and proximity effects concentrate AC losses in the conductors nearest the slot opening: severe local hot spots limit the continuous power rating.</a:t>
            </a:r>
            <a:endParaRPr lang="en-US" sz="25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jackets remove heat only after it has crossed slot insulation and stator core — a long, high-resistance thermal path.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2039112" y="15262098"/>
            <a:ext cx="80010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oil cooling through hollow conductors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2039112" y="16505682"/>
            <a:ext cx="8001000" cy="322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Dielectric oil flows through a channel inside each hairpin conductor: heat is extracted directly at the source, hot spots are suppressed and the critical end-winding region is cooled too.</a:t>
            </a:r>
            <a:endParaRPr lang="en-US" sz="25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liquid cooling can sustain up to 277 % higher continuous current than a water jacket at the same winding temperature limit.</a:t>
            </a:r>
            <a:endParaRPr lang="en-US" sz="2500" dirty="0"/>
          </a:p>
        </p:txBody>
      </p:sp>
      <p:pic>
        <p:nvPicPr>
          <p:cNvPr id="13" name="Image 1" descr="/tmp/claude-0/-home-user-Claude/552a5e84-5d26-52a8-a9c0-bcee294af950/scratchpad/poster/figs/ecce_fig1_mach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142" y="20075906"/>
            <a:ext cx="7520940" cy="333941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39112" y="23525048"/>
            <a:ext cx="8001000" cy="909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machine: 300 kW hairpin-winding PMSM, modeled as a 1/6 periodic sector. Every conductor carries an internal cooling channel.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2039112" y="24845784"/>
            <a:ext cx="80010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machine &amp; fair comparison</a:t>
            </a:r>
            <a:endParaRPr lang="en-US" sz="3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39112" y="26381976"/>
          <a:ext cx="80010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8862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Rated power / speed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 kW / 2000 rpm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Stator slots × layers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 × 4 hollow conductors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Conductor cross-section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mm × 4 mm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Rated current / frequency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 A rms / 266.7 Hz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Coolant (dielectric oil)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 °C inlet, 10 L/min total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 regime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Laminar (Re ≤ 113)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2"/>
          <p:cNvSpPr/>
          <p:nvPr/>
        </p:nvSpPr>
        <p:spPr>
          <a:xfrm>
            <a:off x="2039112" y="29591520"/>
            <a:ext cx="8001000" cy="164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Fair-comparison rule: every channel keeps the same flow area (2 mm²) → same mean oil velocity and same copper removed — the pure shape effect is isolated.</a:t>
            </a:r>
            <a:endParaRPr lang="en-US" sz="2500" dirty="0"/>
          </a:p>
        </p:txBody>
      </p:sp>
      <p:pic>
        <p:nvPicPr>
          <p:cNvPr id="18" name="Image 2" descr="/tmp/claude-0/-home-user-Claude/552a5e84-5d26-52a8-a9c0-bcee294af950/scratchpad/poster/figs/icem_fig1_topologi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137" y="31586944"/>
            <a:ext cx="7600950" cy="347563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039112" y="35172305"/>
            <a:ext cx="8001000" cy="624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slot topologies: solid baseline, round channel Ø 1.6 mm, and rectangular channel 1 mm × 2 mm.</a:t>
            </a:r>
            <a:endParaRPr lang="en-US" sz="1950" dirty="0"/>
          </a:p>
        </p:txBody>
      </p:sp>
      <p:sp>
        <p:nvSpPr>
          <p:cNvPr id="20" name="Shape 14"/>
          <p:cNvSpPr/>
          <p:nvPr/>
        </p:nvSpPr>
        <p:spPr>
          <a:xfrm>
            <a:off x="2039112" y="36162524"/>
            <a:ext cx="8001000" cy="1508760"/>
          </a:xfrm>
          <a:prstGeom prst="roundRect">
            <a:avLst>
              <a:gd name="adj" fmla="val 5455"/>
            </a:avLst>
          </a:prstGeom>
          <a:solidFill>
            <a:srgbClr val="FFF1E8"/>
          </a:solidFill>
          <a:ln/>
        </p:spPr>
      </p:sp>
      <p:sp>
        <p:nvSpPr>
          <p:cNvPr id="21" name="Text 15"/>
          <p:cNvSpPr/>
          <p:nvPr/>
        </p:nvSpPr>
        <p:spPr>
          <a:xfrm>
            <a:off x="2404872" y="36272252"/>
            <a:ext cx="72694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50" b="1" i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the internal channel be shaped freely for cooling — without an electromagnetic penalty?</a:t>
            </a:r>
            <a:endParaRPr lang="en-US" sz="2550" dirty="0"/>
          </a:p>
        </p:txBody>
      </p:sp>
      <p:sp>
        <p:nvSpPr>
          <p:cNvPr id="22" name="Text 16"/>
          <p:cNvSpPr/>
          <p:nvPr/>
        </p:nvSpPr>
        <p:spPr>
          <a:xfrm>
            <a:off x="11137392" y="9646920"/>
            <a:ext cx="8001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Electromagnetic analysis</a:t>
            </a:r>
            <a:endParaRPr lang="en-US" sz="3300" dirty="0"/>
          </a:p>
        </p:txBody>
      </p:sp>
      <p:sp>
        <p:nvSpPr>
          <p:cNvPr id="23" name="Text 17"/>
          <p:cNvSpPr/>
          <p:nvPr/>
        </p:nvSpPr>
        <p:spPr>
          <a:xfrm>
            <a:off x="11137392" y="10415016"/>
            <a:ext cx="8001000" cy="2498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FEA of all three topologies at the rated worst case: 350 A rms, 266.7 Hz.</a:t>
            </a:r>
            <a:endParaRPr lang="en-US" sz="25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High-frequency current crowds at the conductor periphery — the centre acts as a low-current “dead zone”, exactly where the cooling channel sits.</a:t>
            </a:r>
            <a:endParaRPr lang="en-US" sz="2500" dirty="0"/>
          </a:p>
        </p:txBody>
      </p:sp>
      <p:pic>
        <p:nvPicPr>
          <p:cNvPr id="24" name="Image 3" descr="/tmp/claude-0/-home-user-Claude/552a5e84-5d26-52a8-a9c0-bcee294af950/scratchpad/poster/figs/icem_fig3_currentdensit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17502" y="13261340"/>
            <a:ext cx="6240780" cy="35801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137392" y="16951240"/>
            <a:ext cx="8001000" cy="909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density at rated frequency: solid, round and rectangular conductors (left → right). The channel region carries almost no current.</a:t>
            </a:r>
            <a:endParaRPr lang="en-US" sz="1950" dirty="0"/>
          </a:p>
        </p:txBody>
      </p:sp>
      <p:sp>
        <p:nvSpPr>
          <p:cNvPr id="26" name="Text 19"/>
          <p:cNvSpPr/>
          <p:nvPr/>
        </p:nvSpPr>
        <p:spPr>
          <a:xfrm>
            <a:off x="11137392" y="18271977"/>
            <a:ext cx="800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High-frequency AC losses per layer (W)</a:t>
            </a:r>
            <a:endParaRPr lang="en-US" sz="23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11137392" y="18710889"/>
          <a:ext cx="80010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8" name="Text 20"/>
          <p:cNvSpPr/>
          <p:nvPr/>
        </p:nvSpPr>
        <p:spPr>
          <a:xfrm>
            <a:off x="11137392" y="22322769"/>
            <a:ext cx="8001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lies next to the airgap and dominates the loss — yet its AC losses are shape-independent.</a:t>
            </a:r>
            <a:endParaRPr lang="en-US" sz="1950" dirty="0"/>
          </a:p>
        </p:txBody>
      </p:sp>
      <p:sp>
        <p:nvSpPr>
          <p:cNvPr id="29" name="Shape 21"/>
          <p:cNvSpPr/>
          <p:nvPr/>
        </p:nvSpPr>
        <p:spPr>
          <a:xfrm>
            <a:off x="11137392" y="23292033"/>
            <a:ext cx="8001000" cy="1645920"/>
          </a:xfrm>
          <a:prstGeom prst="roundRect">
            <a:avLst>
              <a:gd name="adj" fmla="val 5000"/>
            </a:avLst>
          </a:prstGeom>
          <a:solidFill>
            <a:srgbClr val="FFF1E8"/>
          </a:solidFill>
          <a:ln/>
        </p:spPr>
      </p:sp>
      <p:sp>
        <p:nvSpPr>
          <p:cNvPr id="30" name="Text 22"/>
          <p:cNvSpPr/>
          <p:nvPr/>
        </p:nvSpPr>
        <p:spPr>
          <a:xfrm>
            <a:off x="11457432" y="23292033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E85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0.25 %</a:t>
            </a:r>
            <a:endParaRPr lang="en-US" sz="5600" dirty="0"/>
          </a:p>
        </p:txBody>
      </p:sp>
      <p:sp>
        <p:nvSpPr>
          <p:cNvPr id="31" name="Text 23"/>
          <p:cNvSpPr/>
          <p:nvPr/>
        </p:nvSpPr>
        <p:spPr>
          <a:xfrm>
            <a:off x="14566392" y="23420049"/>
            <a:ext cx="41605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AC-loss difference between round and rectangular channels in the critical airgap-side layer — and only +2.4 % total loss for hollow vs solid conductors.</a:t>
            </a:r>
            <a:endParaRPr lang="en-US" sz="2000" dirty="0"/>
          </a:p>
        </p:txBody>
      </p:sp>
      <p:sp>
        <p:nvSpPr>
          <p:cNvPr id="32" name="Text 24"/>
          <p:cNvSpPr/>
          <p:nvPr/>
        </p:nvSpPr>
        <p:spPr>
          <a:xfrm>
            <a:off x="11137392" y="25349433"/>
            <a:ext cx="8001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&amp; hydraulic modelling</a:t>
            </a:r>
            <a:endParaRPr lang="en-US" sz="3300" dirty="0"/>
          </a:p>
        </p:txBody>
      </p:sp>
      <p:sp>
        <p:nvSpPr>
          <p:cNvPr id="33" name="Text 25"/>
          <p:cNvSpPr/>
          <p:nvPr/>
        </p:nvSpPr>
        <p:spPr>
          <a:xfrm>
            <a:off x="11137392" y="26117529"/>
            <a:ext cx="8001000" cy="2498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 area ⇒ equal mean velocity: the shapes differ only in wetted perimeter P and hydraulic diameter Dₕ = 4A/P.</a:t>
            </a:r>
            <a:endParaRPr lang="en-US" sz="25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Laminar flow ⇒ h = Nu·k / Dₕ — a larger wetted perimeter directly buys heat-transfer surface.</a:t>
            </a:r>
            <a:endParaRPr lang="en-US" sz="2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137392" y="28908989"/>
          <a:ext cx="8001000" cy="914400"/>
        </p:xfrm>
        <a:graphic>
          <a:graphicData uri="http://schemas.openxmlformats.org/drawingml/2006/table">
            <a:tbl>
              <a:tblPr/>
              <a:tblGrid>
                <a:gridCol w="3337560"/>
                <a:gridCol w="2148840"/>
                <a:gridCol w="25146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Round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rgbClr val="E85D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Rectangular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Wetted perimeter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mm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rgbClr val="E85D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mm  (+20 %)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Hydraulic diameter Dₕ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1.60 mm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1.33 mm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Nusselt number Nu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4.36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4.12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Heat-transfer coeff. h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350 W/(m²K)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rgbClr val="E85D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400 W/(m²K)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" name="Text 26"/>
          <p:cNvSpPr/>
          <p:nvPr/>
        </p:nvSpPr>
        <p:spPr>
          <a:xfrm>
            <a:off x="11137392" y="32017949"/>
            <a:ext cx="8001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Steady-state thermal FEA</a:t>
            </a:r>
            <a:endParaRPr lang="en-US" sz="3300" dirty="0"/>
          </a:p>
        </p:txBody>
      </p:sp>
      <p:pic>
        <p:nvPicPr>
          <p:cNvPr id="36" name="Image 4" descr="/tmp/claude-0/-home-user-Claude/552a5e84-5d26-52a8-a9c0-bcee294af950/scratchpad/poster/figs/icem_fig5_tempmap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7392" y="32831765"/>
            <a:ext cx="8001000" cy="213681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11137392" y="35078302"/>
            <a:ext cx="8001000" cy="1194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field at rated load — (a) round vs (b) rectangular channels. 2D FE slot model with layer-resolved losses and convection boundaries; the hot spot sits in Layer 1 next to the airgap.</a:t>
            </a:r>
            <a:endParaRPr lang="en-US" sz="1950" dirty="0"/>
          </a:p>
        </p:txBody>
      </p:sp>
      <p:sp>
        <p:nvSpPr>
          <p:cNvPr id="38" name="Shape 28"/>
          <p:cNvSpPr/>
          <p:nvPr/>
        </p:nvSpPr>
        <p:spPr>
          <a:xfrm>
            <a:off x="11137392" y="36656404"/>
            <a:ext cx="8001000" cy="1645920"/>
          </a:xfrm>
          <a:prstGeom prst="roundRect">
            <a:avLst>
              <a:gd name="adj" fmla="val 5000"/>
            </a:avLst>
          </a:prstGeom>
          <a:solidFill>
            <a:srgbClr val="FFF1E8"/>
          </a:solidFill>
          <a:ln/>
        </p:spPr>
      </p:sp>
      <p:sp>
        <p:nvSpPr>
          <p:cNvPr id="39" name="Text 29"/>
          <p:cNvSpPr/>
          <p:nvPr/>
        </p:nvSpPr>
        <p:spPr>
          <a:xfrm>
            <a:off x="11457432" y="36656404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E85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−10 °C</a:t>
            </a:r>
            <a:endParaRPr lang="en-US" sz="5600" dirty="0"/>
          </a:p>
        </p:txBody>
      </p:sp>
      <p:sp>
        <p:nvSpPr>
          <p:cNvPr id="40" name="Text 30"/>
          <p:cNvSpPr/>
          <p:nvPr/>
        </p:nvSpPr>
        <p:spPr>
          <a:xfrm>
            <a:off x="14566392" y="36784420"/>
            <a:ext cx="41605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winding temperature: 172 °C (round) → 162 °C (rectangular) at the same 10 L/min oil flow — from the channel shape alone.</a:t>
            </a:r>
            <a:endParaRPr lang="en-US" sz="2000" dirty="0"/>
          </a:p>
        </p:txBody>
      </p:sp>
      <p:sp>
        <p:nvSpPr>
          <p:cNvPr id="41" name="Text 31"/>
          <p:cNvSpPr/>
          <p:nvPr/>
        </p:nvSpPr>
        <p:spPr>
          <a:xfrm>
            <a:off x="20235672" y="9646920"/>
            <a:ext cx="8001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Channel-shape optimization</a:t>
            </a:r>
            <a:endParaRPr lang="en-US" sz="3300" dirty="0"/>
          </a:p>
        </p:txBody>
      </p:sp>
      <p:sp>
        <p:nvSpPr>
          <p:cNvPr id="42" name="Text 32"/>
          <p:cNvSpPr/>
          <p:nvPr/>
        </p:nvSpPr>
        <p:spPr>
          <a:xfrm>
            <a:off x="20235672" y="10415016"/>
            <a:ext cx="8001000" cy="407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Enlarging the channel adds wetted surface but removes copper (higher DC loss); shrinking it raises the pressure drop steeply — peak temperature and pumping power genuinely compete.</a:t>
            </a:r>
            <a:endParaRPr lang="en-US" sz="25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Surrogate-based optimization: 128 thermal-FE samples per shape → surrogate model → multi-objective GA → Pareto front, with pumping power in closed form.</a:t>
            </a:r>
            <a:endParaRPr lang="en-US" sz="25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Manufacturability constraints: wall thickness ≥ 0.75 mm, channel opening ≥ 0.75 mm.</a:t>
            </a:r>
            <a:endParaRPr lang="en-US" sz="2500" dirty="0"/>
          </a:p>
        </p:txBody>
      </p:sp>
      <p:pic>
        <p:nvPicPr>
          <p:cNvPr id="43" name="Image 5" descr="/tmp/claude-0/-home-user-Claude/552a5e84-5d26-52a8-a9c0-bcee294af950/scratchpad/poster/figs/ecce_fig2_shape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35672" y="14836140"/>
            <a:ext cx="8001000" cy="137406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20235672" y="16319928"/>
            <a:ext cx="8001000" cy="624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shapes within the same conductor: circular, rectangular, elliptical.</a:t>
            </a:r>
            <a:endParaRPr lang="en-US" sz="1950" dirty="0"/>
          </a:p>
        </p:txBody>
      </p:sp>
      <p:pic>
        <p:nvPicPr>
          <p:cNvPr id="45" name="Image 6" descr="/tmp/claude-0/-home-user-Claude/552a5e84-5d26-52a8-a9c0-bcee294af950/scratchpad/poster/figs/ecce_fig8_pareto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55712" y="17291859"/>
            <a:ext cx="7360920" cy="4023598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20235672" y="21425185"/>
            <a:ext cx="8001000" cy="909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fronts (log pumping-power scale); stars mark minimum-temperature designs. The rectangular channel dominates the entire trade-off range.</a:t>
            </a:r>
            <a:endParaRPr lang="en-US" sz="195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235672" y="22718490"/>
          <a:ext cx="800100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651760"/>
                <a:gridCol w="1554480"/>
                <a:gridCol w="16459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Shape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Optimal channel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Peak T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Pump power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Circular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Ø 0.75 mm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127.4 °C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34.8 W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Elliptical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 × 0.75 mm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89.3 °C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2.98 W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rgbClr val="E85D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Rectangular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rgbClr val="E85D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 × 0.75 mm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rgbClr val="E85D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78.8 °C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50" b="1" dirty="0">
                          <a:solidFill>
                            <a:srgbClr val="E85D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1.92 W</a:t>
                      </a:r>
                      <a:endParaRPr lang="en-US" sz="2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8" name="Shape 35"/>
          <p:cNvSpPr/>
          <p:nvPr/>
        </p:nvSpPr>
        <p:spPr>
          <a:xfrm>
            <a:off x="20235672" y="25287954"/>
            <a:ext cx="8001000" cy="1645920"/>
          </a:xfrm>
          <a:prstGeom prst="roundRect">
            <a:avLst>
              <a:gd name="adj" fmla="val 5000"/>
            </a:avLst>
          </a:prstGeom>
          <a:solidFill>
            <a:srgbClr val="FFF1E8"/>
          </a:solidFill>
          <a:ln/>
        </p:spPr>
      </p:sp>
      <p:sp>
        <p:nvSpPr>
          <p:cNvPr id="49" name="Text 36"/>
          <p:cNvSpPr/>
          <p:nvPr/>
        </p:nvSpPr>
        <p:spPr>
          <a:xfrm>
            <a:off x="20555712" y="25287954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E85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×</a:t>
            </a:r>
            <a:endParaRPr lang="en-US" sz="5600" dirty="0"/>
          </a:p>
        </p:txBody>
      </p:sp>
      <p:sp>
        <p:nvSpPr>
          <p:cNvPr id="50" name="Text 37"/>
          <p:cNvSpPr/>
          <p:nvPr/>
        </p:nvSpPr>
        <p:spPr>
          <a:xfrm>
            <a:off x="22933152" y="25415970"/>
            <a:ext cx="4892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pumping power and −48.6 °C: the optimized rectangular channel (78.8 °C at 1.92 W) versus the optimized circular channel (127.4 °C at 34.8 W).</a:t>
            </a:r>
            <a:endParaRPr lang="en-US" sz="2000" dirty="0"/>
          </a:p>
        </p:txBody>
      </p:sp>
      <p:pic>
        <p:nvPicPr>
          <p:cNvPr id="51" name="Image 7" descr="/tmp/claude-0/-home-user-Claude/552a5e84-5d26-52a8-a9c0-bcee294af950/scratchpad/poster/figs/ecce_fig9_tempmap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235672" y="27281346"/>
            <a:ext cx="8001000" cy="2023859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20235672" y="29414932"/>
            <a:ext cx="8001000" cy="909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fields at each shape's minimum-temperature design: (a) circular, (b) rectangular, (c) elliptical. All optima are wide, shallow channels.</a:t>
            </a:r>
            <a:endParaRPr lang="en-US" sz="1950" dirty="0"/>
          </a:p>
        </p:txBody>
      </p:sp>
      <p:sp>
        <p:nvSpPr>
          <p:cNvPr id="53" name="Text 39"/>
          <p:cNvSpPr/>
          <p:nvPr/>
        </p:nvSpPr>
        <p:spPr>
          <a:xfrm>
            <a:off x="20235672" y="30735669"/>
            <a:ext cx="8001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3300" dirty="0"/>
          </a:p>
        </p:txBody>
      </p:sp>
      <p:sp>
        <p:nvSpPr>
          <p:cNvPr id="54" name="Text 40"/>
          <p:cNvSpPr/>
          <p:nvPr/>
        </p:nvSpPr>
        <p:spPr>
          <a:xfrm>
            <a:off x="20235672" y="31503765"/>
            <a:ext cx="8001000" cy="5775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channel interior is electromagnetically “dead” — AC-loss penalty &lt; 0.25 %: the channel can be shaped purely for cooling.</a:t>
            </a:r>
            <a:endParaRPr lang="en-US" sz="25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Wetted perimeter within the fixed conductor envelope sets the thermal ranking: rectangle &gt; ellipse ≫ circle.</a:t>
            </a:r>
            <a:endParaRPr lang="en-US" sz="25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equal-area swap from round to rectangular already buys −10 °C peak temperature.</a:t>
            </a:r>
            <a:endParaRPr lang="en-US" sz="25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optimized 4.5 × 0.75 mm rectangular channel reaches 78.8 °C at only 1.92 W pumping power.</a:t>
            </a:r>
            <a:endParaRPr lang="en-US" sz="25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manufacturing of the optimized hollow profiles and experimental validation on a motorette.</a:t>
            </a:r>
            <a:endParaRPr lang="en-US" sz="2500" dirty="0"/>
          </a:p>
        </p:txBody>
      </p:sp>
      <p:sp>
        <p:nvSpPr>
          <p:cNvPr id="55" name="Text 41"/>
          <p:cNvSpPr/>
          <p:nvPr/>
        </p:nvSpPr>
        <p:spPr>
          <a:xfrm>
            <a:off x="20235672" y="37663265"/>
            <a:ext cx="8001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work was supported by the Academy of Finland Centre of Excellence in High-Speed Electromechanical Energy Conversion Systems and by Danfoss Editron.</a:t>
            </a:r>
            <a:endParaRPr lang="en-US" sz="1850" dirty="0"/>
          </a:p>
        </p:txBody>
      </p:sp>
      <p:sp>
        <p:nvSpPr>
          <p:cNvPr id="56" name="Shape 42"/>
          <p:cNvSpPr/>
          <p:nvPr/>
        </p:nvSpPr>
        <p:spPr>
          <a:xfrm>
            <a:off x="2039112" y="38807136"/>
            <a:ext cx="26197560" cy="0"/>
          </a:xfrm>
          <a:prstGeom prst="line">
            <a:avLst/>
          </a:prstGeom>
          <a:noFill/>
          <a:ln w="38100">
            <a:solidFill>
              <a:srgbClr val="FF6600"/>
            </a:solidFill>
            <a:prstDash val="solid"/>
          </a:ln>
        </p:spPr>
      </p:sp>
      <p:sp>
        <p:nvSpPr>
          <p:cNvPr id="57" name="Text 43"/>
          <p:cNvSpPr/>
          <p:nvPr/>
        </p:nvSpPr>
        <p:spPr>
          <a:xfrm>
            <a:off x="2039112" y="39300912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300" b="1" spc="150" kern="0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TEAM</a:t>
            </a:r>
            <a:endParaRPr lang="en-US" sz="2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300" b="1" spc="150" kern="0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2300" dirty="0"/>
          </a:p>
        </p:txBody>
      </p:sp>
      <p:sp>
        <p:nvSpPr>
          <p:cNvPr id="58" name="Text 44"/>
          <p:cNvSpPr/>
          <p:nvPr/>
        </p:nvSpPr>
        <p:spPr>
          <a:xfrm>
            <a:off x="2039112" y="40462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ICEM 2026 · ECCE 2026</a:t>
            </a:r>
            <a:endParaRPr lang="en-US" sz="1800" dirty="0"/>
          </a:p>
        </p:txBody>
      </p:sp>
      <p:sp>
        <p:nvSpPr>
          <p:cNvPr id="59" name="Text 45"/>
          <p:cNvSpPr/>
          <p:nvPr/>
        </p:nvSpPr>
        <p:spPr>
          <a:xfrm>
            <a:off x="8110728" y="39300912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Hüseyin Tayyer Canseven</a:t>
            </a:r>
            <a:endParaRPr lang="en-US" sz="1950" dirty="0"/>
          </a:p>
          <a:p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huseyin.canseven@lut.fi</a:t>
            </a:r>
            <a:endParaRPr lang="en-US" sz="195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Pratik Bisale</a:t>
            </a:r>
            <a:endParaRPr lang="en-US" sz="1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pratik.bisale@lut.fi</a:t>
            </a:r>
            <a:endParaRPr lang="en-US" sz="1950" dirty="0"/>
          </a:p>
        </p:txBody>
      </p:sp>
      <p:sp>
        <p:nvSpPr>
          <p:cNvPr id="60" name="Text 46"/>
          <p:cNvSpPr/>
          <p:nvPr/>
        </p:nvSpPr>
        <p:spPr>
          <a:xfrm>
            <a:off x="14813280" y="39300912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Ilya Petrov</a:t>
            </a:r>
            <a:endParaRPr lang="en-US" sz="1950" dirty="0"/>
          </a:p>
          <a:p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ilya.petrov@lut.fi</a:t>
            </a:r>
            <a:endParaRPr lang="en-US" sz="195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Lassi Aarniovuori</a:t>
            </a:r>
            <a:endParaRPr lang="en-US" sz="1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lassi.aarniovuori@lut.fi</a:t>
            </a:r>
            <a:endParaRPr lang="en-US" sz="1950" dirty="0"/>
          </a:p>
        </p:txBody>
      </p:sp>
      <p:sp>
        <p:nvSpPr>
          <p:cNvPr id="61" name="Text 47"/>
          <p:cNvSpPr/>
          <p:nvPr/>
        </p:nvSpPr>
        <p:spPr>
          <a:xfrm>
            <a:off x="21515832" y="39300912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Juho Montonen</a:t>
            </a:r>
            <a:endParaRPr lang="en-US" sz="1950" dirty="0"/>
          </a:p>
          <a:p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juho.montonen@danfoss.com</a:t>
            </a:r>
            <a:endParaRPr lang="en-US" sz="195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Juha Pyrhönen</a:t>
            </a:r>
            <a:endParaRPr lang="en-US" sz="1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juha.pyrhonen@lut.fi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2026-08-14T11:53:26Z</dcterms:created>
  <dcterms:modified xsi:type="dcterms:W3CDTF">2026-08-14T11:53:26Z</dcterms:modified>
</cp:coreProperties>
</file>