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56A19-6FF3-45A3-B395-DE4F2C22D4F9}" v="39" dt="2026-08-14T14:55:03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" d="100"/>
          <a:sy n="10" d="100"/>
        </p:scale>
        <p:origin x="6686" y="30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üseyin Canseven (LUT)" userId="6727b027-2115-4d67-ad55-ac0a7647c63b" providerId="ADAL" clId="{DC781E41-7F09-42D9-AF57-F5505F875196}"/>
    <pc:docChg chg="undo custSel mod modSld modMainMaster">
      <pc:chgData name="Hüseyin Canseven (LUT)" userId="6727b027-2115-4d67-ad55-ac0a7647c63b" providerId="ADAL" clId="{DC781E41-7F09-42D9-AF57-F5505F875196}" dt="2026-08-14T14:54:11.214" v="794" actId="20577"/>
      <pc:docMkLst>
        <pc:docMk/>
      </pc:docMkLst>
      <pc:sldChg chg="addSp delSp modSp mod">
        <pc:chgData name="Hüseyin Canseven (LUT)" userId="6727b027-2115-4d67-ad55-ac0a7647c63b" providerId="ADAL" clId="{DC781E41-7F09-42D9-AF57-F5505F875196}" dt="2026-08-14T14:54:11.214" v="794" actId="20577"/>
        <pc:sldMkLst>
          <pc:docMk/>
          <pc:sldMk cId="0" sldId="256"/>
        </pc:sldMkLst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2:13.573" v="736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3:22:13.919" v="79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48:47.673" v="626" actId="20577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3:21:23.829" v="20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26:10.580" v="146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30:55.177" v="189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12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3:10.956" v="110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33:37.217" v="289" actId="1035"/>
          <ac:spMkLst>
            <pc:docMk/>
            <pc:sldMk cId="0" sldId="256"/>
            <ac:spMk id="15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3:25.740" v="114" actId="478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23:36.076" v="116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32:51.984" v="229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33:44.321" v="318" actId="103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33:44.321" v="318" actId="1036"/>
          <ac:spMkLst>
            <pc:docMk/>
            <pc:sldMk cId="0" sldId="256"/>
            <ac:spMk id="23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19:38.284" v="103" actId="478"/>
          <ac:spMkLst>
            <pc:docMk/>
            <pc:sldMk cId="0" sldId="256"/>
            <ac:spMk id="25" creationId="{00000000-0000-0000-0000-000000000000}"/>
          </ac:spMkLst>
        </pc:spChg>
        <pc:spChg chg="add del mod">
          <ac:chgData name="Hüseyin Canseven (LUT)" userId="6727b027-2115-4d67-ad55-ac0a7647c63b" providerId="ADAL" clId="{DC781E41-7F09-42D9-AF57-F5505F875196}" dt="2026-08-14T14:32:58.985" v="231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28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29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30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31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32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33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35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37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38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25:21.157" v="136" actId="478"/>
          <ac:spMkLst>
            <pc:docMk/>
            <pc:sldMk cId="0" sldId="256"/>
            <ac:spMk id="40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41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39:42.848" v="416" actId="14100"/>
          <ac:spMkLst>
            <pc:docMk/>
            <pc:sldMk cId="0" sldId="256"/>
            <ac:spMk id="42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39:52.480" v="417" actId="478"/>
          <ac:spMkLst>
            <pc:docMk/>
            <pc:sldMk cId="0" sldId="256"/>
            <ac:spMk id="44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41:55.063" v="437" actId="478"/>
          <ac:spMkLst>
            <pc:docMk/>
            <pc:sldMk cId="0" sldId="256"/>
            <ac:spMk id="46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41:30.687" v="434" actId="107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49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41:30.687" v="434" actId="1076"/>
          <ac:spMkLst>
            <pc:docMk/>
            <pc:sldMk cId="0" sldId="256"/>
            <ac:spMk id="50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40:13.872" v="420" actId="478"/>
          <ac:spMkLst>
            <pc:docMk/>
            <pc:sldMk cId="0" sldId="256"/>
            <ac:spMk id="52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53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1:10.158" v="731" actId="20577"/>
          <ac:spMkLst>
            <pc:docMk/>
            <pc:sldMk cId="0" sldId="256"/>
            <ac:spMk id="54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40:34.751" v="423" actId="478"/>
          <ac:spMkLst>
            <pc:docMk/>
            <pc:sldMk cId="0" sldId="256"/>
            <ac:spMk id="55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0:52.395" v="715" actId="790"/>
          <ac:spMkLst>
            <pc:docMk/>
            <pc:sldMk cId="0" sldId="256"/>
            <ac:spMk id="56" creationId="{00000000-0000-0000-0000-000000000000}"/>
          </ac:spMkLst>
        </pc:spChg>
        <pc:spChg chg="mod">
          <ac:chgData name="Hüseyin Canseven (LUT)" userId="6727b027-2115-4d67-ad55-ac0a7647c63b" providerId="ADAL" clId="{DC781E41-7F09-42D9-AF57-F5505F875196}" dt="2026-08-14T14:54:11.214" v="794" actId="20577"/>
          <ac:spMkLst>
            <pc:docMk/>
            <pc:sldMk cId="0" sldId="256"/>
            <ac:spMk id="57" creationId="{00000000-0000-0000-0000-000000000000}"/>
          </ac:spMkLst>
        </pc:spChg>
        <pc:spChg chg="del mod">
          <ac:chgData name="Hüseyin Canseven (LUT)" userId="6727b027-2115-4d67-ad55-ac0a7647c63b" providerId="ADAL" clId="{DC781E41-7F09-42D9-AF57-F5505F875196}" dt="2026-08-14T14:26:27.523" v="147" actId="478"/>
          <ac:spMkLst>
            <pc:docMk/>
            <pc:sldMk cId="0" sldId="256"/>
            <ac:spMk id="58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46:15.990" v="467" actId="478"/>
          <ac:spMkLst>
            <pc:docMk/>
            <pc:sldMk cId="0" sldId="256"/>
            <ac:spMk id="59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46:06.967" v="465" actId="478"/>
          <ac:spMkLst>
            <pc:docMk/>
            <pc:sldMk cId="0" sldId="256"/>
            <ac:spMk id="60" creationId="{00000000-0000-0000-0000-000000000000}"/>
          </ac:spMkLst>
        </pc:spChg>
        <pc:spChg chg="del">
          <ac:chgData name="Hüseyin Canseven (LUT)" userId="6727b027-2115-4d67-ad55-ac0a7647c63b" providerId="ADAL" clId="{DC781E41-7F09-42D9-AF57-F5505F875196}" dt="2026-08-14T14:46:09.967" v="466" actId="478"/>
          <ac:spMkLst>
            <pc:docMk/>
            <pc:sldMk cId="0" sldId="256"/>
            <ac:spMk id="61" creationId="{00000000-0000-0000-0000-000000000000}"/>
          </ac:spMkLst>
        </pc:spChg>
        <pc:graphicFrameChg chg="mod modGraphic">
          <ac:chgData name="Hüseyin Canseven (LUT)" userId="6727b027-2115-4d67-ad55-ac0a7647c63b" providerId="ADAL" clId="{DC781E41-7F09-42D9-AF57-F5505F875196}" dt="2026-08-14T14:44:00.982" v="464" actId="20577"/>
          <ac:graphicFrameMkLst>
            <pc:docMk/>
            <pc:sldMk cId="0" sldId="256"/>
            <ac:graphicFrameMk id="16" creationId="{00000000-0000-0000-0000-000000000000}"/>
          </ac:graphicFrameMkLst>
        </pc:graphicFrameChg>
        <pc:graphicFrameChg chg="mod">
          <ac:chgData name="Hüseyin Canseven (LUT)" userId="6727b027-2115-4d67-ad55-ac0a7647c63b" providerId="ADAL" clId="{DC781E41-7F09-42D9-AF57-F5505F875196}" dt="2026-08-14T14:38:57.287" v="413" actId="20577"/>
          <ac:graphicFrameMkLst>
            <pc:docMk/>
            <pc:sldMk cId="0" sldId="256"/>
            <ac:graphicFrameMk id="27" creationId="{00000000-0000-0000-0000-000000000000}"/>
          </ac:graphicFrameMkLst>
        </pc:graphicFrameChg>
        <pc:graphicFrameChg chg="mod modGraphic">
          <ac:chgData name="Hüseyin Canseven (LUT)" userId="6727b027-2115-4d67-ad55-ac0a7647c63b" providerId="ADAL" clId="{DC781E41-7F09-42D9-AF57-F5505F875196}" dt="2026-08-14T14:52:33.029" v="741" actId="1035"/>
          <ac:graphicFrameMkLst>
            <pc:docMk/>
            <pc:sldMk cId="0" sldId="256"/>
            <ac:graphicFrameMk id="47" creationId="{00000000-0000-0000-0000-000000000000}"/>
          </ac:graphicFrameMkLst>
        </pc:graphicFrameChg>
        <pc:picChg chg="del">
          <ac:chgData name="Hüseyin Canseven (LUT)" userId="6727b027-2115-4d67-ad55-ac0a7647c63b" providerId="ADAL" clId="{DC781E41-7F09-42D9-AF57-F5505F875196}" dt="2026-08-14T13:20:52.420" v="16" actId="478"/>
          <ac:picMkLst>
            <pc:docMk/>
            <pc:sldMk cId="0" sldId="256"/>
            <ac:picMk id="13" creationId="{00000000-0000-0000-0000-000000000000}"/>
          </ac:picMkLst>
        </pc:picChg>
        <pc:picChg chg="del">
          <ac:chgData name="Hüseyin Canseven (LUT)" userId="6727b027-2115-4d67-ad55-ac0a7647c63b" providerId="ADAL" clId="{DC781E41-7F09-42D9-AF57-F5505F875196}" dt="2026-08-14T14:20:30.156" v="109" actId="478"/>
          <ac:picMkLst>
            <pc:docMk/>
            <pc:sldMk cId="0" sldId="256"/>
            <ac:picMk id="18" creationId="{00000000-0000-0000-0000-000000000000}"/>
          </ac:picMkLst>
        </pc:picChg>
        <pc:picChg chg="del">
          <ac:chgData name="Hüseyin Canseven (LUT)" userId="6727b027-2115-4d67-ad55-ac0a7647c63b" providerId="ADAL" clId="{DC781E41-7F09-42D9-AF57-F5505F875196}" dt="2026-08-14T14:19:38.853" v="104" actId="478"/>
          <ac:picMkLst>
            <pc:docMk/>
            <pc:sldMk cId="0" sldId="256"/>
            <ac:picMk id="24" creationId="{00000000-0000-0000-0000-000000000000}"/>
          </ac:picMkLst>
        </pc:picChg>
        <pc:picChg chg="del mod">
          <ac:chgData name="Hüseyin Canseven (LUT)" userId="6727b027-2115-4d67-ad55-ac0a7647c63b" providerId="ADAL" clId="{DC781E41-7F09-42D9-AF57-F5505F875196}" dt="2026-08-14T14:35:19.672" v="386" actId="478"/>
          <ac:picMkLst>
            <pc:docMk/>
            <pc:sldMk cId="0" sldId="256"/>
            <ac:picMk id="43" creationId="{00000000-0000-0000-0000-000000000000}"/>
          </ac:picMkLst>
        </pc:picChg>
        <pc:picChg chg="add del mod modCrop">
          <ac:chgData name="Hüseyin Canseven (LUT)" userId="6727b027-2115-4d67-ad55-ac0a7647c63b" providerId="ADAL" clId="{DC781E41-7F09-42D9-AF57-F5505F875196}" dt="2026-08-14T14:52:35.381" v="746" actId="1036"/>
          <ac:picMkLst>
            <pc:docMk/>
            <pc:sldMk cId="0" sldId="256"/>
            <ac:picMk id="45" creationId="{00000000-0000-0000-0000-000000000000}"/>
          </ac:picMkLst>
        </pc:picChg>
        <pc:picChg chg="del">
          <ac:chgData name="Hüseyin Canseven (LUT)" userId="6727b027-2115-4d67-ad55-ac0a7647c63b" providerId="ADAL" clId="{DC781E41-7F09-42D9-AF57-F5505F875196}" dt="2026-08-14T14:40:06.455" v="418" actId="478"/>
          <ac:picMkLst>
            <pc:docMk/>
            <pc:sldMk cId="0" sldId="256"/>
            <ac:picMk id="51" creationId="{00000000-0000-0000-0000-000000000000}"/>
          </ac:picMkLst>
        </pc:picChg>
        <pc:picChg chg="add mod modCrop">
          <ac:chgData name="Hüseyin Canseven (LUT)" userId="6727b027-2115-4d67-ad55-ac0a7647c63b" providerId="ADAL" clId="{DC781E41-7F09-42D9-AF57-F5505F875196}" dt="2026-08-14T14:33:32.865" v="279" actId="1035"/>
          <ac:picMkLst>
            <pc:docMk/>
            <pc:sldMk cId="0" sldId="256"/>
            <ac:picMk id="63" creationId="{AC2B5FDC-37C6-824A-106C-F35E652CDD47}"/>
          </ac:picMkLst>
        </pc:picChg>
        <pc:picChg chg="add mod">
          <ac:chgData name="Hüseyin Canseven (LUT)" userId="6727b027-2115-4d67-ad55-ac0a7647c63b" providerId="ADAL" clId="{DC781E41-7F09-42D9-AF57-F5505F875196}" dt="2026-08-14T14:43:18.887" v="448" actId="1076"/>
          <ac:picMkLst>
            <pc:docMk/>
            <pc:sldMk cId="0" sldId="256"/>
            <ac:picMk id="67" creationId="{3A197A59-C247-F616-63ED-4885D14ED8C6}"/>
          </ac:picMkLst>
        </pc:picChg>
        <pc:cxnChg chg="add del mod">
          <ac:chgData name="Hüseyin Canseven (LUT)" userId="6727b027-2115-4d67-ad55-ac0a7647c63b" providerId="ADAL" clId="{DC781E41-7F09-42D9-AF57-F5505F875196}" dt="2026-08-14T14:28:49.970" v="167" actId="478"/>
          <ac:cxnSpMkLst>
            <pc:docMk/>
            <pc:sldMk cId="0" sldId="256"/>
            <ac:cxnSpMk id="65" creationId="{EC3D7041-8E69-44FA-E703-795CB3813522}"/>
          </ac:cxnSpMkLst>
        </pc:cxnChg>
      </pc:sldChg>
      <pc:sldMasterChg chg="addSp mod">
        <pc:chgData name="Hüseyin Canseven (LUT)" userId="6727b027-2115-4d67-ad55-ac0a7647c63b" providerId="ADAL" clId="{DC781E41-7F09-42D9-AF57-F5505F875196}" dt="2026-08-14T12:37:14.318" v="13" actId="33475"/>
        <pc:sldMasterMkLst>
          <pc:docMk/>
          <pc:sldMasterMk cId="0" sldId="2147483648"/>
        </pc:sldMasterMkLst>
        <pc:spChg chg="add">
          <ac:chgData name="Hüseyin Canseven (LUT)" userId="6727b027-2115-4d67-ad55-ac0a7647c63b" providerId="ADAL" clId="{DC781E41-7F09-42D9-AF57-F5505F875196}" dt="2026-08-14T12:37:14.318" v="13" actId="33475"/>
          <ac:spMkLst>
            <pc:docMk/>
            <pc:sldMasterMk cId="0" sldId="2147483648"/>
            <ac:spMk id="3" creationId="{D01AB456-F6F9-C0DB-0EDD-9A14FD6DBAC6}"/>
          </ac:spMkLst>
        </pc:sp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510086706734632"/>
          <c:y val="0.16298786515321945"/>
          <c:w val="0.87338023183416935"/>
          <c:h val="0.6662627398847871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Layer 1</c:v>
                </c:pt>
                <c:pt idx="1">
                  <c:v>Layer 2</c:v>
                </c:pt>
                <c:pt idx="2">
                  <c:v>Layer 3</c:v>
                </c:pt>
                <c:pt idx="3">
                  <c:v>Layer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2002</c:v>
                </c:pt>
                <c:pt idx="1">
                  <c:v>800.2</c:v>
                </c:pt>
                <c:pt idx="2">
                  <c:v>273.5</c:v>
                </c:pt>
                <c:pt idx="3">
                  <c:v>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C-424B-98CD-96E61C4348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</c:v>
                </c:pt>
              </c:strCache>
            </c:strRef>
          </c:tx>
          <c:spPr>
            <a:solidFill>
              <a:srgbClr val="199E7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Layer 1</c:v>
                </c:pt>
                <c:pt idx="1">
                  <c:v>Layer 2</c:v>
                </c:pt>
                <c:pt idx="2">
                  <c:v>Layer 3</c:v>
                </c:pt>
                <c:pt idx="3">
                  <c:v>Layer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1988.3</c:v>
                </c:pt>
                <c:pt idx="1">
                  <c:v>794.1</c:v>
                </c:pt>
                <c:pt idx="2">
                  <c:v>271.7</c:v>
                </c:pt>
                <c:pt idx="3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1C-424B-98CD-96E61C4348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Rectangular</c:v>
                </c:pt>
              </c:strCache>
            </c:strRef>
          </c:tx>
          <c:spPr>
            <a:solidFill>
              <a:srgbClr val="E85D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Layer 1</c:v>
                </c:pt>
                <c:pt idx="1">
                  <c:v>Layer 2</c:v>
                </c:pt>
                <c:pt idx="2">
                  <c:v>Layer 3</c:v>
                </c:pt>
                <c:pt idx="3">
                  <c:v>Layer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1992.7</c:v>
                </c:pt>
                <c:pt idx="1">
                  <c:v>796.7</c:v>
                </c:pt>
                <c:pt idx="2">
                  <c:v>272.3</c:v>
                </c:pt>
                <c:pt idx="3">
                  <c:v>32.4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1C-424B-98CD-96E61C434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2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2200">
          <a:latin typeface="Times New Roman" panose="02020603050405020304" pitchFamily="18" charset="0"/>
          <a:cs typeface="Times New Roman" panose="02020603050405020304" pitchFamily="18" charset="0"/>
        </a:defRPr>
      </a:pPr>
      <a:endParaRPr lang="fi-FI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629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AB456-F6F9-C0DB-0EDD-9A14FD6DBA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2587863"/>
            <a:ext cx="26146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i-FI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LUT Group Confidential - Other information (3Y)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2.png"/><Relationship Id="rId6" Type="http://schemas.openxmlformats.org/officeDocument/2006/relationships/hyperlink" Target="mailto:huseyin.canseven@lut.fi" TargetMode="External"/><Relationship Id="rId7" Type="http://schemas.openxmlformats.org/officeDocument/2006/relationships/hyperlink" Target="mailto:ilya.petrov@lut.fi" TargetMode="External"/><Relationship Id="rId8" Type="http://schemas.openxmlformats.org/officeDocument/2006/relationships/image" Target="../media/image3.png"/><Relationship Id="rId9" Type="http://schemas.openxmlformats.org/officeDocument/2006/relationships/image" Target="../media/image4.jpg"/><Relationship Id="rId10" Type="http://schemas.openxmlformats.org/officeDocument/2006/relationships/image" Target="../media/image5.png"/><Relationship Id="rId1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291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algn="just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tmp/claude-0/-home-user-Claude/552a5e84-5d26-52a8-a9c0-bcee294af950/scratchpad/poster/figs/lut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932688"/>
            <a:ext cx="4105818" cy="1426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39112" y="3639312"/>
            <a:ext cx="26197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3000"/>
              </a:lnSpc>
              <a:buNone/>
            </a:pPr>
            <a:r>
              <a:rPr lang="en-US" sz="7800" b="1" noProof="0" dirty="0">
                <a:solidFill>
                  <a:srgbClr val="FF66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IMPACT OF COOLING CHANNEL SHAPE ON THE PERFORMANCE OF HOLLOW HAIRPIN WINDINGS</a:t>
            </a:r>
            <a:br>
              <a:rPr lang="en-US" sz="7800" b="1" noProof="0" dirty="0">
                <a:solidFill>
                  <a:srgbClr val="FF66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</a:br>
            <a:endParaRPr lang="en-US" sz="7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39112" y="5989320"/>
            <a:ext cx="26197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4400" b="1" noProof="0" dirty="0">
                <a:solidFill>
                  <a:srgbClr val="11111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Multiphysics analysis and multi-objective channel shape optimization for direct oil-cooled hairpin windings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39112" y="74432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4400" b="1" kern="0" spc="200" noProof="0" dirty="0">
                <a:solidFill>
                  <a:srgbClr val="FF66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Hüseyin Tayyer Canseven 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039111" y="8014956"/>
            <a:ext cx="240453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4000" noProof="0" dirty="0">
                <a:solidFill>
                  <a:srgbClr val="59595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Department of Electrical Engineering, LUT University, Finland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039112" y="9646920"/>
            <a:ext cx="1217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Motivation</a:t>
            </a:r>
            <a:endParaRPr lang="en-US" sz="5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039112" y="10790560"/>
            <a:ext cx="12179808" cy="5098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Traction motors: higher speed and frequency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Hairpin windings = industry standard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AC losses → severe local hot spots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Water jacket: long thermal path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039112" y="14830379"/>
            <a:ext cx="121798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Direct oil cooling</a:t>
            </a:r>
            <a:endParaRPr lang="en-US" sz="5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42392" y="17106320"/>
            <a:ext cx="6876527" cy="67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Oil flows inside each conductor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Heat extracted at the source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Hot spots suppressed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+277 % continuous current</a:t>
            </a:r>
          </a:p>
        </p:txBody>
      </p:sp>
      <p:sp>
        <p:nvSpPr>
          <p:cNvPr id="15" name="Text 11"/>
          <p:cNvSpPr/>
          <p:nvPr/>
        </p:nvSpPr>
        <p:spPr>
          <a:xfrm>
            <a:off x="2039112" y="23029529"/>
            <a:ext cx="121798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Reference machine</a:t>
            </a:r>
            <a:endParaRPr lang="en-US" sz="5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886622"/>
              </p:ext>
            </p:extLst>
          </p:nvPr>
        </p:nvGraphicFramePr>
        <p:xfrm>
          <a:off x="2039112" y="24173169"/>
          <a:ext cx="12179808" cy="3950208"/>
        </p:xfrm>
        <a:graphic>
          <a:graphicData uri="http://schemas.openxmlformats.org/drawingml/2006/table">
            <a:tbl>
              <a:tblPr/>
              <a:tblGrid>
                <a:gridCol w="626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5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Power / speed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300 kW / 2000 rpm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Slots × layers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48 × 4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Conductor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6 × 4 mm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Current / frequency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350 A, 266.7 Hz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Coolant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Oil, 65 °C, 10 L/min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Flow regime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Laminar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4"/>
          <p:cNvSpPr/>
          <p:nvPr/>
        </p:nvSpPr>
        <p:spPr>
          <a:xfrm>
            <a:off x="2039112" y="37459310"/>
            <a:ext cx="12179808" cy="1219809"/>
          </a:xfrm>
          <a:prstGeom prst="roundRect">
            <a:avLst>
              <a:gd name="adj" fmla="val 5455"/>
            </a:avLst>
          </a:prstGeom>
          <a:solidFill>
            <a:srgbClr val="FFF1E8"/>
          </a:solidFill>
          <a:ln/>
        </p:spPr>
        <p:txBody>
          <a:bodyPr/>
          <a:lstStyle/>
          <a:p>
            <a:pPr algn="just"/>
            <a:endParaRPr lang="en-US" sz="3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2221992" y="37710770"/>
            <a:ext cx="1181404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200" b="1" i="1" noProof="0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Can the channel be shaped freely for cooling?</a:t>
            </a:r>
            <a:endParaRPr lang="en-US" sz="4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039112" y="28778179"/>
            <a:ext cx="1217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Electromagnetic analysis</a:t>
            </a:r>
            <a:endParaRPr lang="en-US" sz="5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2039112" y="29921728"/>
            <a:ext cx="12179808" cy="249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2D FEA: 350 A rms, 266.7 Hz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Current crowds at the periphery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Channel sits in the “dead zone”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1558426119"/>
              </p:ext>
            </p:extLst>
          </p:nvPr>
        </p:nvGraphicFramePr>
        <p:xfrm>
          <a:off x="8461857" y="32748870"/>
          <a:ext cx="5757062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1" name="Text 31"/>
          <p:cNvSpPr/>
          <p:nvPr/>
        </p:nvSpPr>
        <p:spPr>
          <a:xfrm>
            <a:off x="15764255" y="9646920"/>
            <a:ext cx="1247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Channel-shape optimization</a:t>
            </a:r>
            <a:endParaRPr lang="en-US" sz="5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15764255" y="10790560"/>
            <a:ext cx="12472416" cy="4751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Bigger channel: more surface, less copper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Smaller channel: steep pressure drop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Temperature vs. pumping power compete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128 FE samples → surrogate → GA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Wall and opening ≥ 0.75 mm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Image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7433401" y="19373850"/>
            <a:ext cx="9134124" cy="5029200"/>
          </a:xfrm>
          <a:prstGeom prst="rect">
            <a:avLst/>
          </a:prstGeom>
        </p:spPr>
      </p:pic>
      <p:graphicFrame>
        <p:nvGraphicFramePr>
          <p:cNvPr id="4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737527"/>
              </p:ext>
            </p:extLst>
          </p:nvPr>
        </p:nvGraphicFramePr>
        <p:xfrm>
          <a:off x="15764255" y="24943734"/>
          <a:ext cx="12472416" cy="2633472"/>
        </p:xfrm>
        <a:graphic>
          <a:graphicData uri="http://schemas.openxmlformats.org/drawingml/2006/table">
            <a:tbl>
              <a:tblPr/>
              <a:tblGrid>
                <a:gridCol w="334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3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5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Shape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Optimal size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Peak T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b="1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Pumping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Circular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Ø 0.75 mm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127.4 °C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34.8 W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Elliptical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4.5 × 0.75 mm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89.3 °C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noProof="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2.98 W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3600" b="1" noProof="0" dirty="0">
                          <a:solidFill>
                            <a:srgbClr val="E85D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Rectangular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b="1" noProof="0" dirty="0">
                          <a:solidFill>
                            <a:srgbClr val="E85D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4.5 × 0.75 mm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b="1" noProof="0" dirty="0">
                          <a:solidFill>
                            <a:srgbClr val="E85D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78.8 °C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600" b="1" noProof="0" dirty="0">
                          <a:solidFill>
                            <a:srgbClr val="E85D00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1.92 W</a:t>
                      </a:r>
                      <a:endParaRPr lang="en-US" sz="3200" noProof="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ext 39"/>
          <p:cNvSpPr/>
          <p:nvPr/>
        </p:nvSpPr>
        <p:spPr>
          <a:xfrm>
            <a:off x="15764255" y="32394357"/>
            <a:ext cx="1247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Conclusions</a:t>
            </a:r>
            <a:endParaRPr lang="en-US" sz="5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40"/>
          <p:cNvSpPr/>
          <p:nvPr/>
        </p:nvSpPr>
        <p:spPr>
          <a:xfrm>
            <a:off x="15764255" y="33537997"/>
            <a:ext cx="12472416" cy="6093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Channel centre is EM “dead”: &lt; 0.25 %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Shape it purely for cooling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Rectangle &gt; ellipse ≫ circle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Round → rectangular: −10 °C peak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Optimum: 78.8 °C at 1.92 W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  <a:buSzPct val="125000"/>
              <a:buChar char="•"/>
            </a:pPr>
            <a:r>
              <a:rPr lang="en-US" sz="4400" noProof="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Next: manufacturing + motorette test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42"/>
          <p:cNvSpPr/>
          <p:nvPr/>
        </p:nvSpPr>
        <p:spPr>
          <a:xfrm>
            <a:off x="2039112" y="39360589"/>
            <a:ext cx="2619756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  <p:txBody>
          <a:bodyPr/>
          <a:lstStyle/>
          <a:p>
            <a:pPr algn="just"/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43"/>
          <p:cNvSpPr/>
          <p:nvPr/>
        </p:nvSpPr>
        <p:spPr>
          <a:xfrm>
            <a:off x="2039111" y="39486957"/>
            <a:ext cx="26339546" cy="31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000" b="1" kern="0" spc="150" noProof="0" dirty="0">
                <a:solidFill>
                  <a:srgbClr val="FF66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LABORATORY OF ELECTRICAL DRIVES TECHNOLOGY</a:t>
            </a:r>
          </a:p>
          <a:p>
            <a:pPr marL="0" indent="0" algn="ctr">
              <a:lnSpc>
                <a:spcPct val="112000"/>
              </a:lnSpc>
              <a:buNone/>
            </a:pPr>
            <a:endParaRPr lang="en-US" sz="3200" b="1" kern="0" spc="150" noProof="0" dirty="0">
              <a:solidFill>
                <a:srgbClr val="FF6600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3200" b="1" kern="0" spc="150" noProof="0" dirty="0">
                <a:solidFill>
                  <a:srgbClr val="FF66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Contact: Hüseyin T. Canseven (</a:t>
            </a:r>
            <a:r>
              <a:rPr lang="en-US" sz="3200" b="1" kern="0" spc="150" noProof="0" dirty="0">
                <a:solidFill>
                  <a:srgbClr val="FF66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6"/>
              </a:rPr>
              <a:t>huseyin.canseven@lut.fi</a:t>
            </a:r>
            <a:r>
              <a:rPr lang="en-US" sz="3200" b="1" kern="0" spc="150" noProof="0" dirty="0">
                <a:solidFill>
                  <a:srgbClr val="FF66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3200" b="1" kern="0" spc="150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						   Ilya Petrov (</a:t>
            </a:r>
            <a:r>
              <a:rPr lang="en-US" sz="3200" b="1" kern="0" spc="150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ilya.petrov@lut.fi</a:t>
            </a:r>
            <a:r>
              <a:rPr lang="en-US" sz="3200" b="1" kern="0" spc="150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lnSpc>
                <a:spcPct val="112000"/>
              </a:lnSpc>
              <a:buNone/>
            </a:pP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2B5FDC-37C6-824A-106C-F35E652CDD4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910"/>
          <a:stretch>
            <a:fillRect/>
          </a:stretch>
        </p:blipFill>
        <p:spPr>
          <a:xfrm>
            <a:off x="2223794" y="15974019"/>
            <a:ext cx="4754640" cy="6400800"/>
          </a:xfrm>
          <a:prstGeom prst="rect">
            <a:avLst/>
          </a:prstGeom>
        </p:spPr>
      </p:pic>
      <p:pic>
        <p:nvPicPr>
          <p:cNvPr id="67" name="Image 6">
            <a:extLst>
              <a:ext uri="{FF2B5EF4-FFF2-40B4-BE49-F238E27FC236}">
                <a16:creationId xmlns:a16="http://schemas.microsoft.com/office/drawing/2014/main" id="{3A197A59-C247-F616-63ED-4885D14ED8C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764255" y="15594360"/>
            <a:ext cx="12472416" cy="3368009"/>
          </a:xfrm>
          <a:prstGeom prst="rect">
            <a:avLst/>
          </a:prstGeom>
        </p:spPr>
      </p:pic>
      <p:pic>
        <p:nvPicPr>
          <p:cNvPr id="68" name="Picture 67" descr="icem_fig3_currentdens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9112" y="32748870"/>
            <a:ext cx="6056960" cy="347472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039112" y="36315030"/>
            <a:ext cx="6056960" cy="4895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i="1">
                <a:solidFill>
                  <a:srgbClr val="595959"/>
                </a:solidFill>
                <a:latin typeface="Times New Roman"/>
              </a:rPr>
              <a:t>(a) solid   (b) round   (c) rectangular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1857" y="36315030"/>
            <a:ext cx="5757088" cy="4895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i="1">
                <a:solidFill>
                  <a:srgbClr val="595959"/>
                </a:solidFill>
                <a:latin typeface="Times New Roman"/>
              </a:rPr>
              <a:t>AC loss per layer (W)</a:t>
            </a:r>
          </a:p>
        </p:txBody>
      </p:sp>
      <p:pic>
        <p:nvPicPr>
          <p:cNvPr id="71" name="Picture 70" descr="ecce_fig9_tempmap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64255" y="28117891"/>
            <a:ext cx="12472416" cy="315486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5764255" y="31364194"/>
            <a:ext cx="12472416" cy="4895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i="1">
                <a:solidFill>
                  <a:srgbClr val="595959"/>
                </a:solidFill>
                <a:latin typeface="Times New Roman"/>
              </a:rPr>
              <a:t>Optimal designs: (a) circular   (b) rectangular   (c) elliptical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306014c-c088-4a50-b503-4830bda7971c}" enabled="1" method="Standard" siteId="{9d97530e-8f27-4137-a2a9-5cb4dcf26f2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570</Words>
  <Application>Microsoft Office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Hüseyin Canseven (LUT)</cp:lastModifiedBy>
  <cp:revision>1</cp:revision>
  <dcterms:created xsi:type="dcterms:W3CDTF">2026-08-14T11:53:26Z</dcterms:created>
  <dcterms:modified xsi:type="dcterms:W3CDTF">2026-08-14T14:55:09Z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LUT Group Confidential - Other information (3Y)</vt:lpwstr>
  </property>
</Properties>
</file>