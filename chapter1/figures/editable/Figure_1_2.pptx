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731200" cy="61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1.2 of Chapter 1, drawn as native PowerPoint shapes; no picture is embedded, so every part and label can be edited here.</a:t>
            </a:r>
          </a:p>
          <a:p/>
          <a:p>
            <a:r>
              <a:t>Source of truth: chapter1/src/ch1_figures.py, geared_vs_directdrive(). Regenerate this file with `python3 src/mpl_to_pptx.py`. The PNG in the manuscript comes from ch1_figures.py itself, so edits made here do not travel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5731200" cy="6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3" name="Figure 1.2 (a)"/>
          <p:cNvGrpSpPr/>
          <p:nvPr/>
        </p:nvGrpSpPr>
        <p:grpSpPr>
          <a:xfrm>
            <a:off x="53999" y="81460"/>
            <a:ext cx="5623200" cy="2990359"/>
            <a:chOff x="53999" y="81460"/>
            <a:chExt cx="5623200" cy="2990359"/>
          </a:xfrm>
        </p:grpSpPr>
        <p:sp>
          <p:nvSpPr>
            <p:cNvPr id="4" name="(a) box 01"/>
            <p:cNvSpPr/>
            <p:nvPr/>
          </p:nvSpPr>
          <p:spPr>
            <a:xfrm>
              <a:off x="53999" y="1943999"/>
              <a:ext cx="5623200" cy="918001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(a) line 02"/>
            <p:cNvCxnSpPr/>
            <p:nvPr/>
          </p:nvCxnSpPr>
          <p:spPr>
            <a:xfrm>
              <a:off x="53999" y="1943999"/>
              <a:ext cx="5623200" cy="0"/>
            </a:xfrm>
            <a:prstGeom prst="line">
              <a:avLst/>
            </a:prstGeom>
            <a:ln w="16510">
              <a:solidFill>
                <a:srgbClr val="1A1A1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(a) box 03"/>
            <p:cNvSpPr/>
            <p:nvPr/>
          </p:nvSpPr>
          <p:spPr>
            <a:xfrm>
              <a:off x="125999" y="1828800"/>
              <a:ext cx="5472001" cy="115199"/>
            </a:xfrm>
            <a:prstGeom prst="rect">
              <a:avLst/>
            </a:prstGeom>
            <a:solidFill>
              <a:srgbClr val="CFCFC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(a) line 04"/>
            <p:cNvCxnSpPr/>
            <p:nvPr/>
          </p:nvCxnSpPr>
          <p:spPr>
            <a:xfrm>
              <a:off x="2771999" y="2430000"/>
              <a:ext cx="169200" cy="0"/>
            </a:xfrm>
            <a:prstGeom prst="line">
              <a:avLst/>
            </a:prstGeom>
            <a:ln w="12700">
              <a:solidFill>
                <a:srgbClr val="A6350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(a) line 05"/>
            <p:cNvCxnSpPr/>
            <p:nvPr/>
          </p:nvCxnSpPr>
          <p:spPr>
            <a:xfrm>
              <a:off x="3214799" y="2430000"/>
              <a:ext cx="223200" cy="0"/>
            </a:xfrm>
            <a:prstGeom prst="line">
              <a:avLst/>
            </a:prstGeom>
            <a:ln w="12700">
              <a:solidFill>
                <a:srgbClr val="A6350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(a) line 06"/>
            <p:cNvSpPr/>
            <p:nvPr/>
          </p:nvSpPr>
          <p:spPr>
            <a:xfrm>
              <a:off x="2520000" y="1720800"/>
              <a:ext cx="1224000" cy="421200"/>
            </a:xfrm>
            <a:custGeom>
              <a:avLst/>
              <a:gdLst/>
              <a:ahLst/>
              <a:cxnLst/>
              <a:rect l="l" t="t" r="r" b="b"/>
              <a:pathLst>
                <a:path w="1224000" h="421200">
                  <a:moveTo>
                    <a:pt x="1224000" y="421200"/>
                  </a:moveTo>
                  <a:lnTo>
                    <a:pt x="1224000" y="313199"/>
                  </a:lnTo>
                  <a:lnTo>
                    <a:pt x="0" y="313199"/>
                  </a:ln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A6350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(a) line 07"/>
            <p:cNvCxnSpPr/>
            <p:nvPr/>
          </p:nvCxnSpPr>
          <p:spPr>
            <a:xfrm>
              <a:off x="2419199" y="1720800"/>
              <a:ext cx="0" cy="385200"/>
            </a:xfrm>
            <a:prstGeom prst="line">
              <a:avLst/>
            </a:prstGeom>
            <a:ln w="12700" cap="flat">
              <a:solidFill>
                <a:srgbClr val="A6350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(a) box 08"/>
            <p:cNvSpPr/>
            <p:nvPr/>
          </p:nvSpPr>
          <p:spPr>
            <a:xfrm>
              <a:off x="305999" y="1720800"/>
              <a:ext cx="216000" cy="108000"/>
            </a:xfrm>
            <a:prstGeom prst="rect">
              <a:avLst/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(a) box 09"/>
            <p:cNvSpPr/>
            <p:nvPr/>
          </p:nvSpPr>
          <p:spPr>
            <a:xfrm>
              <a:off x="1314000" y="1720800"/>
              <a:ext cx="216000" cy="108000"/>
            </a:xfrm>
            <a:prstGeom prst="rect">
              <a:avLst/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(a) rounded box 10"/>
            <p:cNvSpPr/>
            <p:nvPr/>
          </p:nvSpPr>
          <p:spPr>
            <a:xfrm>
              <a:off x="107999" y="936000"/>
              <a:ext cx="136800" cy="684000"/>
            </a:xfrm>
            <a:prstGeom prst="roundRect">
              <a:avLst>
                <a:gd name="adj" fmla="val 31578"/>
              </a:avLst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(a) box 11"/>
            <p:cNvSpPr/>
            <p:nvPr/>
          </p:nvSpPr>
          <p:spPr>
            <a:xfrm>
              <a:off x="234000" y="835199"/>
              <a:ext cx="1367999" cy="885601"/>
            </a:xfrm>
            <a:prstGeom prst="rect">
              <a:avLst/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(a) rounded box 12"/>
            <p:cNvSpPr/>
            <p:nvPr/>
          </p:nvSpPr>
          <p:spPr>
            <a:xfrm>
              <a:off x="1601999" y="1000800"/>
              <a:ext cx="97200" cy="554399"/>
            </a:xfrm>
            <a:prstGeom prst="roundRect">
              <a:avLst>
                <a:gd name="adj" fmla="val 29629"/>
              </a:avLst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(a) box 13"/>
            <p:cNvSpPr/>
            <p:nvPr/>
          </p:nvSpPr>
          <p:spPr>
            <a:xfrm>
              <a:off x="665999" y="630000"/>
              <a:ext cx="396001" cy="205199"/>
            </a:xfrm>
            <a:prstGeom prst="rect">
              <a:avLst/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(a) box 14"/>
            <p:cNvSpPr/>
            <p:nvPr/>
          </p:nvSpPr>
          <p:spPr>
            <a:xfrm>
              <a:off x="2159999" y="1720800"/>
              <a:ext cx="180000" cy="108000"/>
            </a:xfrm>
            <a:prstGeom prst="rect">
              <a:avLst/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(a) box 15"/>
            <p:cNvSpPr/>
            <p:nvPr/>
          </p:nvSpPr>
          <p:spPr>
            <a:xfrm>
              <a:off x="2988000" y="1720800"/>
              <a:ext cx="179999" cy="108000"/>
            </a:xfrm>
            <a:prstGeom prst="rect">
              <a:avLst/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(a) box 16"/>
            <p:cNvSpPr/>
            <p:nvPr/>
          </p:nvSpPr>
          <p:spPr>
            <a:xfrm>
              <a:off x="2131199" y="702000"/>
              <a:ext cx="1072800" cy="1018800"/>
            </a:xfrm>
            <a:prstGeom prst="rect">
              <a:avLst/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(a) box 17"/>
            <p:cNvSpPr/>
            <p:nvPr/>
          </p:nvSpPr>
          <p:spPr>
            <a:xfrm>
              <a:off x="2321999" y="619199"/>
              <a:ext cx="684000" cy="82801"/>
            </a:xfrm>
            <a:prstGeom prst="rect">
              <a:avLst/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(a) rounded box 18"/>
            <p:cNvSpPr/>
            <p:nvPr/>
          </p:nvSpPr>
          <p:spPr>
            <a:xfrm>
              <a:off x="2764799" y="503999"/>
              <a:ext cx="108001" cy="43201"/>
            </a:xfrm>
            <a:prstGeom prst="roundRect">
              <a:avLst>
                <a:gd name="adj" fmla="val 41665"/>
              </a:avLst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(a) box 19"/>
            <p:cNvSpPr/>
            <p:nvPr/>
          </p:nvSpPr>
          <p:spPr>
            <a:xfrm>
              <a:off x="3689999" y="1206000"/>
              <a:ext cx="288000" cy="622800"/>
            </a:xfrm>
            <a:prstGeom prst="rect">
              <a:avLst/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(a) box 20"/>
            <p:cNvSpPr/>
            <p:nvPr/>
          </p:nvSpPr>
          <p:spPr>
            <a:xfrm>
              <a:off x="4158000" y="1583999"/>
              <a:ext cx="360000" cy="244801"/>
            </a:xfrm>
            <a:prstGeom prst="rect">
              <a:avLst/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(a) box 21"/>
            <p:cNvSpPr/>
            <p:nvPr/>
          </p:nvSpPr>
          <p:spPr>
            <a:xfrm>
              <a:off x="2015999" y="2106000"/>
              <a:ext cx="756000" cy="522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(a) box 22"/>
            <p:cNvSpPr/>
            <p:nvPr/>
          </p:nvSpPr>
          <p:spPr>
            <a:xfrm>
              <a:off x="2015999" y="2250000"/>
              <a:ext cx="756000" cy="378000"/>
            </a:xfrm>
            <a:prstGeom prst="rect">
              <a:avLst/>
            </a:prstGeom>
            <a:solidFill>
              <a:srgbClr val="F4E6D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(a) box 23"/>
            <p:cNvSpPr/>
            <p:nvPr/>
          </p:nvSpPr>
          <p:spPr>
            <a:xfrm>
              <a:off x="3437999" y="2142000"/>
              <a:ext cx="612000" cy="468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(a) label “machine floor”"/>
            <p:cNvSpPr txBox="1"/>
            <p:nvPr/>
          </p:nvSpPr>
          <p:spPr>
            <a:xfrm>
              <a:off x="4407975" y="1975379"/>
              <a:ext cx="1208024" cy="1676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r">
                <a:lnSpc>
                  <a:spcPts val="1320"/>
                </a:lnSpc>
              </a:pPr>
              <a:r>
                <a:rPr sz="1100" b="0" i="0">
                  <a:solidFill>
                    <a:srgbClr val="000000"/>
                  </a:solidFill>
                  <a:latin typeface="Times New Roman"/>
                </a:rPr>
                <a:t>machine floor</a:t>
              </a:r>
            </a:p>
          </p:txBody>
        </p:sp>
        <p:sp>
          <p:nvSpPr>
            <p:cNvPr id="28" name="(a) label “oil feed and return”"/>
            <p:cNvSpPr txBox="1"/>
            <p:nvPr/>
          </p:nvSpPr>
          <p:spPr>
            <a:xfrm>
              <a:off x="552327" y="1975379"/>
              <a:ext cx="1744472" cy="1676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r">
                <a:lnSpc>
                  <a:spcPts val="1320"/>
                </a:lnSpc>
              </a:pPr>
              <a:r>
                <a:rPr sz="1100" b="0" i="0">
                  <a:solidFill>
                    <a:srgbClr val="000000"/>
                  </a:solidFill>
                  <a:latin typeface="Times New Roman"/>
                </a:rPr>
                <a:t>oil feed and return</a:t>
              </a:r>
            </a:p>
          </p:txBody>
        </p:sp>
        <p:sp>
          <p:nvSpPr>
            <p:cNvPr id="29" name="(a) label “oil tank”"/>
            <p:cNvSpPr txBox="1"/>
            <p:nvPr/>
          </p:nvSpPr>
          <p:spPr>
            <a:xfrm>
              <a:off x="2013508" y="2670180"/>
              <a:ext cx="760984" cy="1676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320"/>
                </a:lnSpc>
              </a:pPr>
              <a:r>
                <a:rPr sz="1100" b="0" i="0">
                  <a:solidFill>
                    <a:srgbClr val="000000"/>
                  </a:solidFill>
                  <a:latin typeface="Times New Roman"/>
                </a:rPr>
                <a:t>oil tank</a:t>
              </a:r>
            </a:p>
          </p:txBody>
        </p:sp>
        <p:sp>
          <p:nvSpPr>
            <p:cNvPr id="30" name="(a) label “pump”"/>
            <p:cNvSpPr txBox="1"/>
            <p:nvPr/>
          </p:nvSpPr>
          <p:spPr>
            <a:xfrm>
              <a:off x="2876324" y="2670180"/>
              <a:ext cx="403352" cy="1676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320"/>
                </a:lnSpc>
              </a:pPr>
              <a:r>
                <a:rPr sz="1100" b="0" i="0">
                  <a:solidFill>
                    <a:srgbClr val="000000"/>
                  </a:solidFill>
                  <a:latin typeface="Times New Roman"/>
                </a:rPr>
                <a:t>pump</a:t>
              </a:r>
            </a:p>
          </p:txBody>
        </p:sp>
        <p:sp>
          <p:nvSpPr>
            <p:cNvPr id="31" name="(a) label “oil cooler”"/>
            <p:cNvSpPr txBox="1"/>
            <p:nvPr/>
          </p:nvSpPr>
          <p:spPr>
            <a:xfrm>
              <a:off x="3274100" y="2670180"/>
              <a:ext cx="939800" cy="1676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320"/>
                </a:lnSpc>
              </a:pPr>
              <a:r>
                <a:rPr sz="1100" b="0" i="0">
                  <a:solidFill>
                    <a:srgbClr val="000000"/>
                  </a:solidFill>
                  <a:latin typeface="Times New Roman"/>
                </a:rPr>
                <a:t>oil cooler</a:t>
              </a:r>
            </a:p>
          </p:txBody>
        </p:sp>
        <p:sp>
          <p:nvSpPr>
            <p:cNvPr id="32" name="(a) label “motor”"/>
            <p:cNvSpPr txBox="1"/>
            <p:nvPr/>
          </p:nvSpPr>
          <p:spPr>
            <a:xfrm>
              <a:off x="448099" y="81460"/>
              <a:ext cx="939800" cy="307340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210"/>
                </a:lnSpc>
              </a:pPr>
              <a:r>
                <a:rPr sz="1100" b="0" i="0">
                  <a:solidFill>
                    <a:srgbClr val="000000"/>
                  </a:solidFill>
                  <a:latin typeface="Times New Roman"/>
                </a:rPr>
                <a:t>motor</a:t>
              </a:r>
            </a:p>
            <a:p>
              <a:pPr algn="ctr">
                <a:lnSpc>
                  <a:spcPts val="1210"/>
                </a:lnSpc>
              </a:pPr>
              <a:r>
                <a:rPr sz="1100" b="0" i="0">
                  <a:solidFill>
                    <a:srgbClr val="000000"/>
                  </a:solidFill>
                  <a:latin typeface="Times New Roman"/>
                </a:rPr>
                <a:t>1500 r/min</a:t>
              </a:r>
            </a:p>
          </p:txBody>
        </p:sp>
        <p:sp>
          <p:nvSpPr>
            <p:cNvPr id="33" name="(a) label “gearbox”"/>
            <p:cNvSpPr txBox="1"/>
            <p:nvPr/>
          </p:nvSpPr>
          <p:spPr>
            <a:xfrm>
              <a:off x="2152995" y="81460"/>
              <a:ext cx="1029208" cy="307340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210"/>
                </a:lnSpc>
              </a:pPr>
              <a:r>
                <a:rPr sz="1100" b="0" i="0">
                  <a:solidFill>
                    <a:srgbClr val="000000"/>
                  </a:solidFill>
                  <a:latin typeface="Times New Roman"/>
                </a:rPr>
                <a:t>gearbox</a:t>
              </a:r>
            </a:p>
            <a:p>
              <a:pPr algn="ctr">
                <a:lnSpc>
                  <a:spcPts val="1210"/>
                </a:lnSpc>
              </a:pPr>
              <a:r>
                <a:rPr sz="1100" b="0" i="0">
                  <a:solidFill>
                    <a:srgbClr val="000000"/>
                  </a:solidFill>
                  <a:latin typeface="Times New Roman"/>
                </a:rPr>
                <a:t>step-up ×20</a:t>
              </a:r>
            </a:p>
          </p:txBody>
        </p:sp>
        <p:sp>
          <p:nvSpPr>
            <p:cNvPr id="34" name="(a) label “compressor”"/>
            <p:cNvSpPr txBox="1"/>
            <p:nvPr/>
          </p:nvSpPr>
          <p:spPr>
            <a:xfrm>
              <a:off x="4444691" y="81460"/>
              <a:ext cx="1118616" cy="307340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210"/>
                </a:lnSpc>
              </a:pPr>
              <a:r>
                <a:rPr sz="1100" b="0" i="0">
                  <a:solidFill>
                    <a:srgbClr val="000000"/>
                  </a:solidFill>
                  <a:latin typeface="Times New Roman"/>
                </a:rPr>
                <a:t>compressor</a:t>
              </a:r>
            </a:p>
            <a:p>
              <a:pPr algn="ctr">
                <a:lnSpc>
                  <a:spcPts val="1210"/>
                </a:lnSpc>
              </a:pPr>
              <a:r>
                <a:rPr sz="1100" b="0" i="0">
                  <a:solidFill>
                    <a:srgbClr val="000000"/>
                  </a:solidFill>
                  <a:latin typeface="Times New Roman"/>
                </a:rPr>
                <a:t>30 000 r/min</a:t>
              </a:r>
            </a:p>
          </p:txBody>
        </p:sp>
        <p:sp>
          <p:nvSpPr>
            <p:cNvPr id="35" name="(a) label “(a) Geared train”"/>
            <p:cNvSpPr txBox="1"/>
            <p:nvPr/>
          </p:nvSpPr>
          <p:spPr>
            <a:xfrm>
              <a:off x="2127476" y="2904179"/>
              <a:ext cx="1476248" cy="1676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320"/>
                </a:lnSpc>
              </a:pPr>
              <a:r>
                <a:rPr sz="1100" b="0" i="0">
                  <a:solidFill>
                    <a:srgbClr val="000000"/>
                  </a:solidFill>
                  <a:latin typeface="Times New Roman"/>
                </a:rPr>
                <a:t>(a) Geared train</a:t>
              </a:r>
            </a:p>
          </p:txBody>
        </p:sp>
        <p:cxnSp>
          <p:nvCxnSpPr>
            <p:cNvPr id="36" name="(a) line 33"/>
            <p:cNvCxnSpPr/>
            <p:nvPr/>
          </p:nvCxnSpPr>
          <p:spPr>
            <a:xfrm>
              <a:off x="288000" y="1630800"/>
              <a:ext cx="1259999" cy="0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(a) line 34"/>
            <p:cNvCxnSpPr/>
            <p:nvPr/>
          </p:nvCxnSpPr>
          <p:spPr>
            <a:xfrm>
              <a:off x="288000" y="1544399"/>
              <a:ext cx="1259999" cy="0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(a) line 35"/>
            <p:cNvCxnSpPr/>
            <p:nvPr/>
          </p:nvCxnSpPr>
          <p:spPr>
            <a:xfrm>
              <a:off x="288000" y="1457999"/>
              <a:ext cx="1259999" cy="0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(a) line 36"/>
            <p:cNvCxnSpPr/>
            <p:nvPr/>
          </p:nvCxnSpPr>
          <p:spPr>
            <a:xfrm>
              <a:off x="288000" y="1371600"/>
              <a:ext cx="1259999" cy="0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(a) line 37"/>
            <p:cNvCxnSpPr/>
            <p:nvPr/>
          </p:nvCxnSpPr>
          <p:spPr>
            <a:xfrm>
              <a:off x="288000" y="1285200"/>
              <a:ext cx="1259999" cy="0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(a) line 38"/>
            <p:cNvCxnSpPr/>
            <p:nvPr/>
          </p:nvCxnSpPr>
          <p:spPr>
            <a:xfrm>
              <a:off x="288000" y="1198800"/>
              <a:ext cx="1259999" cy="0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(a) line 39"/>
            <p:cNvCxnSpPr/>
            <p:nvPr/>
          </p:nvCxnSpPr>
          <p:spPr>
            <a:xfrm>
              <a:off x="288000" y="1112399"/>
              <a:ext cx="1259999" cy="0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(a) box 40"/>
            <p:cNvSpPr/>
            <p:nvPr/>
          </p:nvSpPr>
          <p:spPr>
            <a:xfrm>
              <a:off x="1699199" y="1231200"/>
              <a:ext cx="118800" cy="93600"/>
            </a:xfrm>
            <a:prstGeom prst="rect">
              <a:avLst/>
            </a:prstGeom>
            <a:solidFill>
              <a:srgbClr val="CFCFC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4" name="(a) line 41"/>
            <p:cNvCxnSpPr/>
            <p:nvPr/>
          </p:nvCxnSpPr>
          <p:spPr>
            <a:xfrm>
              <a:off x="288000" y="1025999"/>
              <a:ext cx="1259999" cy="0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(a) box 42"/>
            <p:cNvSpPr/>
            <p:nvPr/>
          </p:nvSpPr>
          <p:spPr>
            <a:xfrm>
              <a:off x="1817999" y="1155600"/>
              <a:ext cx="72000" cy="244800"/>
            </a:xfrm>
            <a:prstGeom prst="rect">
              <a:avLst/>
            </a:prstGeom>
            <a:solidFill>
              <a:srgbClr val="9C9C9C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6" name="(a) line 43"/>
            <p:cNvCxnSpPr/>
            <p:nvPr/>
          </p:nvCxnSpPr>
          <p:spPr>
            <a:xfrm>
              <a:off x="288000" y="939600"/>
              <a:ext cx="1259999" cy="0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(a) box 44"/>
            <p:cNvSpPr/>
            <p:nvPr/>
          </p:nvSpPr>
          <p:spPr>
            <a:xfrm>
              <a:off x="1911599" y="1155600"/>
              <a:ext cx="72000" cy="244800"/>
            </a:xfrm>
            <a:prstGeom prst="rect">
              <a:avLst/>
            </a:prstGeom>
            <a:solidFill>
              <a:srgbClr val="9C9C9C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8" name="(a) line 45"/>
            <p:cNvCxnSpPr/>
            <p:nvPr/>
          </p:nvCxnSpPr>
          <p:spPr>
            <a:xfrm>
              <a:off x="2015999" y="2250000"/>
              <a:ext cx="756000" cy="0"/>
            </a:xfrm>
            <a:prstGeom prst="line">
              <a:avLst/>
            </a:prstGeom>
            <a:ln w="6350">
              <a:solidFill>
                <a:srgbClr val="1A1A1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(a) box 46"/>
            <p:cNvSpPr/>
            <p:nvPr/>
          </p:nvSpPr>
          <p:spPr>
            <a:xfrm>
              <a:off x="1983599" y="1231200"/>
              <a:ext cx="82800" cy="93600"/>
            </a:xfrm>
            <a:prstGeom prst="rect">
              <a:avLst/>
            </a:prstGeom>
            <a:solidFill>
              <a:srgbClr val="CFCFC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0" name="(a) line 47"/>
            <p:cNvCxnSpPr/>
            <p:nvPr/>
          </p:nvCxnSpPr>
          <p:spPr>
            <a:xfrm flipV="1">
              <a:off x="3491999" y="2188800"/>
              <a:ext cx="0" cy="374400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(a) box 48"/>
            <p:cNvSpPr/>
            <p:nvPr/>
          </p:nvSpPr>
          <p:spPr>
            <a:xfrm>
              <a:off x="2066399" y="1126799"/>
              <a:ext cx="64800" cy="302401"/>
            </a:xfrm>
            <a:prstGeom prst="rect">
              <a:avLst/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2" name="(a) line 49"/>
            <p:cNvCxnSpPr/>
            <p:nvPr/>
          </p:nvCxnSpPr>
          <p:spPr>
            <a:xfrm flipV="1">
              <a:off x="3542399" y="2188800"/>
              <a:ext cx="0" cy="374400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(a) line 50"/>
            <p:cNvCxnSpPr/>
            <p:nvPr/>
          </p:nvCxnSpPr>
          <p:spPr>
            <a:xfrm flipV="1">
              <a:off x="3592799" y="2188800"/>
              <a:ext cx="0" cy="374400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(a) line 51"/>
            <p:cNvCxnSpPr/>
            <p:nvPr/>
          </p:nvCxnSpPr>
          <p:spPr>
            <a:xfrm flipV="1">
              <a:off x="3643199" y="2188800"/>
              <a:ext cx="0" cy="374400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(a) line 52"/>
            <p:cNvCxnSpPr/>
            <p:nvPr/>
          </p:nvCxnSpPr>
          <p:spPr>
            <a:xfrm flipV="1">
              <a:off x="3693600" y="2188800"/>
              <a:ext cx="0" cy="374400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(a) box 53"/>
            <p:cNvSpPr/>
            <p:nvPr/>
          </p:nvSpPr>
          <p:spPr>
            <a:xfrm>
              <a:off x="2358000" y="774000"/>
              <a:ext cx="46799" cy="882000"/>
            </a:xfrm>
            <a:prstGeom prst="rect">
              <a:avLst/>
            </a:prstGeom>
            <a:solidFill>
              <a:srgbClr val="DCDCD6"/>
            </a:solidFill>
            <a:ln w="635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7" name="(a) line 54"/>
            <p:cNvCxnSpPr/>
            <p:nvPr/>
          </p:nvCxnSpPr>
          <p:spPr>
            <a:xfrm flipV="1">
              <a:off x="3744000" y="2188800"/>
              <a:ext cx="0" cy="374400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(a) box 55"/>
            <p:cNvSpPr/>
            <p:nvPr/>
          </p:nvSpPr>
          <p:spPr>
            <a:xfrm>
              <a:off x="2645999" y="774000"/>
              <a:ext cx="46800" cy="882000"/>
            </a:xfrm>
            <a:prstGeom prst="rect">
              <a:avLst/>
            </a:prstGeom>
            <a:solidFill>
              <a:srgbClr val="DCDCD6"/>
            </a:solidFill>
            <a:ln w="635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9" name="(a) line 56"/>
            <p:cNvCxnSpPr/>
            <p:nvPr/>
          </p:nvCxnSpPr>
          <p:spPr>
            <a:xfrm flipV="1">
              <a:off x="3794400" y="2188800"/>
              <a:ext cx="0" cy="374400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(a) box 57"/>
            <p:cNvSpPr/>
            <p:nvPr/>
          </p:nvSpPr>
          <p:spPr>
            <a:xfrm>
              <a:off x="2933999" y="774000"/>
              <a:ext cx="46801" cy="882000"/>
            </a:xfrm>
            <a:prstGeom prst="rect">
              <a:avLst/>
            </a:prstGeom>
            <a:solidFill>
              <a:srgbClr val="DCDCD6"/>
            </a:solidFill>
            <a:ln w="635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1" name="(a) line 58"/>
            <p:cNvCxnSpPr/>
            <p:nvPr/>
          </p:nvCxnSpPr>
          <p:spPr>
            <a:xfrm flipV="1">
              <a:off x="3844800" y="2188800"/>
              <a:ext cx="0" cy="374400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(a) line 59"/>
            <p:cNvCxnSpPr/>
            <p:nvPr/>
          </p:nvCxnSpPr>
          <p:spPr>
            <a:xfrm flipV="1">
              <a:off x="3895200" y="2188800"/>
              <a:ext cx="0" cy="374400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(a) line 60"/>
            <p:cNvCxnSpPr/>
            <p:nvPr/>
          </p:nvCxnSpPr>
          <p:spPr>
            <a:xfrm flipV="1">
              <a:off x="3945600" y="2188800"/>
              <a:ext cx="0" cy="374400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(a) line 61"/>
            <p:cNvCxnSpPr/>
            <p:nvPr/>
          </p:nvCxnSpPr>
          <p:spPr>
            <a:xfrm flipV="1">
              <a:off x="3996000" y="2188800"/>
              <a:ext cx="0" cy="374400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(a) box 62"/>
            <p:cNvSpPr/>
            <p:nvPr/>
          </p:nvSpPr>
          <p:spPr>
            <a:xfrm>
              <a:off x="2807999" y="547200"/>
              <a:ext cx="21600" cy="71999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(a) box 63"/>
            <p:cNvSpPr/>
            <p:nvPr/>
          </p:nvSpPr>
          <p:spPr>
            <a:xfrm>
              <a:off x="3203999" y="838800"/>
              <a:ext cx="64800" cy="302400"/>
            </a:xfrm>
            <a:prstGeom prst="rect">
              <a:avLst/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(a) box 64"/>
            <p:cNvSpPr/>
            <p:nvPr/>
          </p:nvSpPr>
          <p:spPr>
            <a:xfrm>
              <a:off x="3268799" y="943200"/>
              <a:ext cx="72000" cy="93600"/>
            </a:xfrm>
            <a:prstGeom prst="rect">
              <a:avLst/>
            </a:prstGeom>
            <a:solidFill>
              <a:srgbClr val="CFCFC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(a) box 65"/>
            <p:cNvSpPr/>
            <p:nvPr/>
          </p:nvSpPr>
          <p:spPr>
            <a:xfrm>
              <a:off x="3340799" y="867600"/>
              <a:ext cx="72000" cy="244799"/>
            </a:xfrm>
            <a:prstGeom prst="rect">
              <a:avLst/>
            </a:prstGeom>
            <a:solidFill>
              <a:srgbClr val="9C9C9C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(a) box 66"/>
            <p:cNvSpPr/>
            <p:nvPr/>
          </p:nvSpPr>
          <p:spPr>
            <a:xfrm>
              <a:off x="3434399" y="867600"/>
              <a:ext cx="72000" cy="244799"/>
            </a:xfrm>
            <a:prstGeom prst="rect">
              <a:avLst/>
            </a:prstGeom>
            <a:solidFill>
              <a:srgbClr val="9C9C9C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(a) box 67"/>
            <p:cNvSpPr/>
            <p:nvPr/>
          </p:nvSpPr>
          <p:spPr>
            <a:xfrm>
              <a:off x="3506399" y="943200"/>
              <a:ext cx="82800" cy="93600"/>
            </a:xfrm>
            <a:prstGeom prst="rect">
              <a:avLst/>
            </a:prstGeom>
            <a:solidFill>
              <a:srgbClr val="CFCFC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(a) box 68"/>
            <p:cNvSpPr/>
            <p:nvPr/>
          </p:nvSpPr>
          <p:spPr>
            <a:xfrm>
              <a:off x="3589199" y="774000"/>
              <a:ext cx="504000" cy="432000"/>
            </a:xfrm>
            <a:prstGeom prst="rect">
              <a:avLst/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(a) rounded box 69"/>
            <p:cNvSpPr/>
            <p:nvPr/>
          </p:nvSpPr>
          <p:spPr>
            <a:xfrm>
              <a:off x="4093199" y="378000"/>
              <a:ext cx="504000" cy="1223999"/>
            </a:xfrm>
            <a:prstGeom prst="roundRect">
              <a:avLst>
                <a:gd name="adj" fmla="val 39285"/>
              </a:avLst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(a) box 70"/>
            <p:cNvSpPr/>
            <p:nvPr/>
          </p:nvSpPr>
          <p:spPr>
            <a:xfrm>
              <a:off x="4183199" y="252000"/>
              <a:ext cx="324000" cy="154800"/>
            </a:xfrm>
            <a:prstGeom prst="rect">
              <a:avLst/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(a) box 71"/>
            <p:cNvSpPr/>
            <p:nvPr/>
          </p:nvSpPr>
          <p:spPr>
            <a:xfrm>
              <a:off x="4129200" y="198000"/>
              <a:ext cx="431999" cy="54000"/>
            </a:xfrm>
            <a:prstGeom prst="rect">
              <a:avLst/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(a) box 72"/>
            <p:cNvSpPr/>
            <p:nvPr/>
          </p:nvSpPr>
          <p:spPr>
            <a:xfrm>
              <a:off x="4597199" y="792000"/>
              <a:ext cx="478800" cy="396000"/>
            </a:xfrm>
            <a:prstGeom prst="rect">
              <a:avLst/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(a) box 73"/>
            <p:cNvSpPr/>
            <p:nvPr/>
          </p:nvSpPr>
          <p:spPr>
            <a:xfrm>
              <a:off x="5075999" y="709200"/>
              <a:ext cx="61200" cy="561600"/>
            </a:xfrm>
            <a:prstGeom prst="rect">
              <a:avLst/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(a) box 74"/>
            <p:cNvSpPr/>
            <p:nvPr/>
          </p:nvSpPr>
          <p:spPr>
            <a:xfrm>
              <a:off x="2015999" y="2106000"/>
              <a:ext cx="756000" cy="522000"/>
            </a:xfrm>
            <a:prstGeom prst="rect">
              <a:avLst/>
            </a:prstGeom>
            <a:noFill/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(a) circle 75"/>
            <p:cNvSpPr/>
            <p:nvPr/>
          </p:nvSpPr>
          <p:spPr>
            <a:xfrm>
              <a:off x="2941199" y="2293200"/>
              <a:ext cx="273601" cy="273600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(a) circle 76"/>
            <p:cNvSpPr/>
            <p:nvPr/>
          </p:nvSpPr>
          <p:spPr>
            <a:xfrm>
              <a:off x="2365200" y="642600"/>
              <a:ext cx="36000" cy="36000"/>
            </a:xfrm>
            <a:prstGeom prst="ellips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(a) circle 77"/>
            <p:cNvSpPr/>
            <p:nvPr/>
          </p:nvSpPr>
          <p:spPr>
            <a:xfrm>
              <a:off x="2926799" y="642600"/>
              <a:ext cx="36000" cy="36000"/>
            </a:xfrm>
            <a:prstGeom prst="ellips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1" name="(a) arrow 78"/>
            <p:cNvCxnSpPr/>
            <p:nvPr/>
          </p:nvCxnSpPr>
          <p:spPr>
            <a:xfrm flipH="1">
              <a:off x="5201999" y="990000"/>
              <a:ext cx="396001" cy="0"/>
            </a:xfrm>
            <a:prstGeom prst="line">
              <a:avLst/>
            </a:prstGeom>
            <a:ln w="15240">
              <a:solidFill>
                <a:srgbClr val="1A1A1A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(a) polygon 79"/>
            <p:cNvSpPr/>
            <p:nvPr/>
          </p:nvSpPr>
          <p:spPr>
            <a:xfrm>
              <a:off x="3009599" y="2340000"/>
              <a:ext cx="180000" cy="180000"/>
            </a:xfrm>
            <a:custGeom>
              <a:avLst/>
              <a:gdLst/>
              <a:ahLst/>
              <a:cxnLst/>
              <a:rect l="l" t="t" r="r" b="b"/>
              <a:pathLst>
                <a:path w="180000" h="180000">
                  <a:moveTo>
                    <a:pt x="0" y="180000"/>
                  </a:moveTo>
                  <a:lnTo>
                    <a:pt x="0" y="0"/>
                  </a:lnTo>
                  <a:lnTo>
                    <a:pt x="180000" y="90000"/>
                  </a:lnTo>
                  <a:close/>
                </a:path>
              </a:pathLst>
            </a:custGeom>
            <a:noFill/>
            <a:ln w="635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3" name="(a) arrow 80"/>
            <p:cNvCxnSpPr/>
            <p:nvPr/>
          </p:nvCxnSpPr>
          <p:spPr>
            <a:xfrm flipV="1">
              <a:off x="2520000" y="1782000"/>
              <a:ext cx="0" cy="125999"/>
            </a:xfrm>
            <a:prstGeom prst="line">
              <a:avLst/>
            </a:prstGeom>
            <a:ln w="12700">
              <a:solidFill>
                <a:srgbClr val="A6350F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(a) arrow 81"/>
            <p:cNvCxnSpPr/>
            <p:nvPr/>
          </p:nvCxnSpPr>
          <p:spPr>
            <a:xfrm>
              <a:off x="2419199" y="1854000"/>
              <a:ext cx="0" cy="126000"/>
            </a:xfrm>
            <a:prstGeom prst="line">
              <a:avLst/>
            </a:prstGeom>
            <a:ln w="12700">
              <a:solidFill>
                <a:srgbClr val="A6350F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(a) leader 82"/>
            <p:cNvCxnSpPr/>
            <p:nvPr/>
          </p:nvCxnSpPr>
          <p:spPr>
            <a:xfrm>
              <a:off x="1900799" y="394706"/>
              <a:ext cx="0" cy="740994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(a) label “coupling”"/>
            <p:cNvSpPr txBox="1"/>
            <p:nvPr/>
          </p:nvSpPr>
          <p:spPr>
            <a:xfrm>
              <a:off x="1520307" y="222180"/>
              <a:ext cx="760984" cy="1676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320"/>
                </a:lnSpc>
              </a:pPr>
              <a:r>
                <a:rPr sz="1100" b="0" i="0">
                  <a:solidFill>
                    <a:srgbClr val="1A1A1A"/>
                  </a:solidFill>
                  <a:latin typeface="Times New Roman"/>
                </a:rPr>
                <a:t>coupling</a:t>
              </a:r>
            </a:p>
          </p:txBody>
        </p:sp>
        <p:cxnSp>
          <p:nvCxnSpPr>
            <p:cNvPr id="87" name="(a) leader 84"/>
            <p:cNvCxnSpPr/>
            <p:nvPr/>
          </p:nvCxnSpPr>
          <p:spPr>
            <a:xfrm>
              <a:off x="3423599" y="393731"/>
              <a:ext cx="0" cy="453969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(a) label “coupling”"/>
            <p:cNvSpPr txBox="1"/>
            <p:nvPr/>
          </p:nvSpPr>
          <p:spPr>
            <a:xfrm>
              <a:off x="3043107" y="222180"/>
              <a:ext cx="760984" cy="1676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320"/>
                </a:lnSpc>
              </a:pPr>
              <a:r>
                <a:rPr sz="1100" b="0" i="0">
                  <a:solidFill>
                    <a:srgbClr val="1A1A1A"/>
                  </a:solidFill>
                  <a:latin typeface="Times New Roman"/>
                </a:rPr>
                <a:t>coupling</a:t>
              </a:r>
            </a:p>
          </p:txBody>
        </p:sp>
      </p:grpSp>
      <p:grpSp>
        <p:nvGrpSpPr>
          <p:cNvPr id="89" name="Figure 1.2 (b)"/>
          <p:cNvGrpSpPr/>
          <p:nvPr/>
        </p:nvGrpSpPr>
        <p:grpSpPr>
          <a:xfrm>
            <a:off x="53999" y="3220660"/>
            <a:ext cx="5868124" cy="2821160"/>
            <a:chOff x="53999" y="3220660"/>
            <a:chExt cx="5868124" cy="2821160"/>
          </a:xfrm>
        </p:grpSpPr>
        <p:sp>
          <p:nvSpPr>
            <p:cNvPr id="90" name="(b) box 01"/>
            <p:cNvSpPr/>
            <p:nvPr/>
          </p:nvSpPr>
          <p:spPr>
            <a:xfrm>
              <a:off x="53999" y="5417999"/>
              <a:ext cx="5623200" cy="396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1" name="(b) line 02"/>
            <p:cNvCxnSpPr/>
            <p:nvPr/>
          </p:nvCxnSpPr>
          <p:spPr>
            <a:xfrm>
              <a:off x="53999" y="5418000"/>
              <a:ext cx="5623200" cy="0"/>
            </a:xfrm>
            <a:prstGeom prst="line">
              <a:avLst/>
            </a:prstGeom>
            <a:ln w="16510">
              <a:solidFill>
                <a:srgbClr val="1A1A1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(b) box 03"/>
            <p:cNvSpPr/>
            <p:nvPr/>
          </p:nvSpPr>
          <p:spPr>
            <a:xfrm>
              <a:off x="2178000" y="5302799"/>
              <a:ext cx="3078000" cy="115201"/>
            </a:xfrm>
            <a:prstGeom prst="rect">
              <a:avLst/>
            </a:prstGeom>
            <a:solidFill>
              <a:srgbClr val="CFCFC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" name="(b) box 04"/>
            <p:cNvSpPr/>
            <p:nvPr/>
          </p:nvSpPr>
          <p:spPr>
            <a:xfrm>
              <a:off x="2447999" y="4996800"/>
              <a:ext cx="252000" cy="305999"/>
            </a:xfrm>
            <a:prstGeom prst="rect">
              <a:avLst/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" name="(b) box 05"/>
            <p:cNvSpPr/>
            <p:nvPr/>
          </p:nvSpPr>
          <p:spPr>
            <a:xfrm>
              <a:off x="3671999" y="4996800"/>
              <a:ext cx="252000" cy="305999"/>
            </a:xfrm>
            <a:prstGeom prst="rect">
              <a:avLst/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" name="(b) polygon 06"/>
            <p:cNvSpPr/>
            <p:nvPr/>
          </p:nvSpPr>
          <p:spPr>
            <a:xfrm>
              <a:off x="2311199" y="4590000"/>
              <a:ext cx="1738800" cy="414000"/>
            </a:xfrm>
            <a:custGeom>
              <a:avLst/>
              <a:gdLst/>
              <a:ahLst/>
              <a:cxnLst/>
              <a:rect l="l" t="t" r="r" b="b"/>
              <a:pathLst>
                <a:path w="1738800" h="414000">
                  <a:moveTo>
                    <a:pt x="0" y="414000"/>
                  </a:moveTo>
                  <a:lnTo>
                    <a:pt x="0" y="0"/>
                  </a:lnTo>
                  <a:lnTo>
                    <a:pt x="1738800" y="0"/>
                  </a:lnTo>
                  <a:lnTo>
                    <a:pt x="1738800" y="414000"/>
                  </a:lnTo>
                  <a:close/>
                </a:path>
              </a:pathLst>
            </a:custGeom>
            <a:solidFill>
              <a:srgbClr val="F2F2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(b) polygon 07"/>
            <p:cNvSpPr/>
            <p:nvPr/>
          </p:nvSpPr>
          <p:spPr>
            <a:xfrm>
              <a:off x="4049999" y="4590000"/>
              <a:ext cx="43200" cy="468000"/>
            </a:xfrm>
            <a:custGeom>
              <a:avLst/>
              <a:gdLst/>
              <a:ahLst/>
              <a:cxnLst/>
              <a:rect l="l" t="t" r="r" b="b"/>
              <a:pathLst>
                <a:path w="43200" h="468000">
                  <a:moveTo>
                    <a:pt x="0" y="468000"/>
                  </a:moveTo>
                  <a:lnTo>
                    <a:pt x="0" y="0"/>
                  </a:lnTo>
                  <a:lnTo>
                    <a:pt x="43200" y="0"/>
                  </a:lnTo>
                  <a:lnTo>
                    <a:pt x="43200" y="468000"/>
                  </a:lnTo>
                  <a:close/>
                </a:path>
              </a:pathLst>
            </a:custGeom>
            <a:solidFill>
              <a:srgbClr val="F2F2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7" name="(b) polygon 08"/>
            <p:cNvSpPr/>
            <p:nvPr/>
          </p:nvSpPr>
          <p:spPr>
            <a:xfrm>
              <a:off x="2311199" y="4122000"/>
              <a:ext cx="1782000" cy="468000"/>
            </a:xfrm>
            <a:custGeom>
              <a:avLst/>
              <a:gdLst/>
              <a:ahLst/>
              <a:cxnLst/>
              <a:rect l="l" t="t" r="r" b="b"/>
              <a:pathLst>
                <a:path w="1782000" h="468000">
                  <a:moveTo>
                    <a:pt x="0" y="468000"/>
                  </a:moveTo>
                  <a:lnTo>
                    <a:pt x="0" y="54000"/>
                  </a:lnTo>
                  <a:lnTo>
                    <a:pt x="1738800" y="54000"/>
                  </a:lnTo>
                  <a:lnTo>
                    <a:pt x="1738800" y="0"/>
                  </a:lnTo>
                  <a:lnTo>
                    <a:pt x="1782000" y="0"/>
                  </a:lnTo>
                  <a:lnTo>
                    <a:pt x="1782000" y="468000"/>
                  </a:lnTo>
                  <a:close/>
                </a:path>
              </a:pathLst>
            </a:custGeom>
            <a:solidFill>
              <a:srgbClr val="DCDC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" name="(b) box 09"/>
            <p:cNvSpPr/>
            <p:nvPr/>
          </p:nvSpPr>
          <p:spPr>
            <a:xfrm>
              <a:off x="4158000" y="5184000"/>
              <a:ext cx="360000" cy="118799"/>
            </a:xfrm>
            <a:prstGeom prst="rect">
              <a:avLst/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" name="(b) label “machine floor”"/>
            <p:cNvSpPr txBox="1"/>
            <p:nvPr/>
          </p:nvSpPr>
          <p:spPr>
            <a:xfrm>
              <a:off x="4407975" y="5449380"/>
              <a:ext cx="1208024" cy="1676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r">
                <a:lnSpc>
                  <a:spcPts val="1320"/>
                </a:lnSpc>
              </a:pPr>
              <a:r>
                <a:rPr sz="1100" b="0" i="0">
                  <a:solidFill>
                    <a:srgbClr val="000000"/>
                  </a:solidFill>
                  <a:latin typeface="Times New Roman"/>
                </a:rPr>
                <a:t>machine floor</a:t>
              </a:r>
            </a:p>
          </p:txBody>
        </p:sp>
        <p:sp>
          <p:nvSpPr>
            <p:cNvPr id="100" name="(b) label “high-speed motor”"/>
            <p:cNvSpPr txBox="1"/>
            <p:nvPr/>
          </p:nvSpPr>
          <p:spPr>
            <a:xfrm>
              <a:off x="2465875" y="3220660"/>
              <a:ext cx="1476248" cy="307340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210"/>
                </a:lnSpc>
              </a:pPr>
              <a:r>
                <a:rPr sz="1100" b="0" i="0">
                  <a:solidFill>
                    <a:srgbClr val="000000"/>
                  </a:solidFill>
                  <a:latin typeface="Times New Roman"/>
                </a:rPr>
                <a:t>high-speed motor</a:t>
              </a:r>
            </a:p>
            <a:p>
              <a:pPr algn="ctr">
                <a:lnSpc>
                  <a:spcPts val="1210"/>
                </a:lnSpc>
              </a:pPr>
              <a:r>
                <a:rPr sz="1100" b="0" i="0">
                  <a:solidFill>
                    <a:srgbClr val="000000"/>
                  </a:solidFill>
                  <a:latin typeface="Times New Roman"/>
                </a:rPr>
                <a:t>30 000 r/min</a:t>
              </a:r>
            </a:p>
          </p:txBody>
        </p:sp>
        <p:sp>
          <p:nvSpPr>
            <p:cNvPr id="101" name="(b) label “compressor”"/>
            <p:cNvSpPr txBox="1"/>
            <p:nvPr/>
          </p:nvSpPr>
          <p:spPr>
            <a:xfrm>
              <a:off x="4444691" y="3220660"/>
              <a:ext cx="1118616" cy="307340"/>
            </a:xfrm>
            <a:prstGeom prst="rect">
              <a:avLst/>
            </a:prstGeom>
            <a:noFill/>
          </p:spPr>
          <p:txBody>
            <a:bodyPr wrap="none" lIns="0" rIns="0" tIns="0" bIns="0" anchor="b">
              <a:spAutoFit/>
            </a:bodyPr>
            <a:lstStyle/>
            <a:p>
              <a:pPr algn="ctr">
                <a:lnSpc>
                  <a:spcPts val="1210"/>
                </a:lnSpc>
              </a:pPr>
              <a:r>
                <a:rPr sz="1100" b="0" i="0">
                  <a:solidFill>
                    <a:srgbClr val="000000"/>
                  </a:solidFill>
                  <a:latin typeface="Times New Roman"/>
                </a:rPr>
                <a:t>compressor</a:t>
              </a:r>
            </a:p>
            <a:p>
              <a:pPr algn="ctr">
                <a:lnSpc>
                  <a:spcPts val="1210"/>
                </a:lnSpc>
              </a:pPr>
              <a:r>
                <a:rPr sz="1100" b="0" i="0">
                  <a:solidFill>
                    <a:srgbClr val="000000"/>
                  </a:solidFill>
                  <a:latin typeface="Times New Roman"/>
                </a:rPr>
                <a:t>30 000 r/min</a:t>
              </a:r>
            </a:p>
          </p:txBody>
        </p:sp>
        <p:sp>
          <p:nvSpPr>
            <p:cNvPr id="102" name="(b) label “(b) Integrated direct drive”"/>
            <p:cNvSpPr txBox="1"/>
            <p:nvPr/>
          </p:nvSpPr>
          <p:spPr>
            <a:xfrm>
              <a:off x="1635732" y="5874180"/>
              <a:ext cx="2459736" cy="1676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320"/>
                </a:lnSpc>
              </a:pPr>
              <a:r>
                <a:rPr sz="1100" b="0" i="0">
                  <a:solidFill>
                    <a:srgbClr val="000000"/>
                  </a:solidFill>
                  <a:latin typeface="Times New Roman"/>
                </a:rPr>
                <a:t>(b) Integrated direct drive</a:t>
              </a:r>
            </a:p>
          </p:txBody>
        </p:sp>
        <p:sp>
          <p:nvSpPr>
            <p:cNvPr id="103" name="(b) line 14"/>
            <p:cNvSpPr/>
            <p:nvPr/>
          </p:nvSpPr>
          <p:spPr>
            <a:xfrm>
              <a:off x="2311199" y="4590000"/>
              <a:ext cx="1738800" cy="414000"/>
            </a:xfrm>
            <a:custGeom>
              <a:avLst/>
              <a:gdLst/>
              <a:ahLst/>
              <a:cxnLst/>
              <a:rect l="l" t="t" r="r" b="b"/>
              <a:pathLst>
                <a:path w="1738800" h="414000">
                  <a:moveTo>
                    <a:pt x="0" y="0"/>
                  </a:moveTo>
                  <a:lnTo>
                    <a:pt x="0" y="414000"/>
                  </a:lnTo>
                  <a:lnTo>
                    <a:pt x="1738800" y="414000"/>
                  </a:lnTo>
                  <a:lnTo>
                    <a:pt x="1738800" y="0"/>
                  </a:lnTo>
                </a:path>
              </a:pathLst>
            </a:custGeom>
            <a:noFill/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" name="(b) line 15"/>
            <p:cNvSpPr/>
            <p:nvPr/>
          </p:nvSpPr>
          <p:spPr>
            <a:xfrm>
              <a:off x="4049999" y="4590000"/>
              <a:ext cx="43200" cy="468000"/>
            </a:xfrm>
            <a:custGeom>
              <a:avLst/>
              <a:gdLst/>
              <a:ahLst/>
              <a:cxnLst/>
              <a:rect l="l" t="t" r="r" b="b"/>
              <a:pathLst>
                <a:path w="43200" h="468000">
                  <a:moveTo>
                    <a:pt x="0" y="0"/>
                  </a:moveTo>
                  <a:lnTo>
                    <a:pt x="0" y="468000"/>
                  </a:lnTo>
                  <a:lnTo>
                    <a:pt x="43200" y="468000"/>
                  </a:lnTo>
                  <a:lnTo>
                    <a:pt x="43200" y="0"/>
                  </a:lnTo>
                </a:path>
              </a:pathLst>
            </a:custGeom>
            <a:noFill/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5" name="(b) line 16"/>
            <p:cNvSpPr/>
            <p:nvPr/>
          </p:nvSpPr>
          <p:spPr>
            <a:xfrm>
              <a:off x="2311199" y="4122000"/>
              <a:ext cx="1782000" cy="468000"/>
            </a:xfrm>
            <a:custGeom>
              <a:avLst/>
              <a:gdLst/>
              <a:ahLst/>
              <a:cxnLst/>
              <a:rect l="l" t="t" r="r" b="b"/>
              <a:pathLst>
                <a:path w="1782000" h="468000">
                  <a:moveTo>
                    <a:pt x="0" y="468000"/>
                  </a:moveTo>
                  <a:lnTo>
                    <a:pt x="0" y="54000"/>
                  </a:lnTo>
                  <a:lnTo>
                    <a:pt x="1738800" y="54000"/>
                  </a:lnTo>
                  <a:lnTo>
                    <a:pt x="1738800" y="0"/>
                  </a:lnTo>
                  <a:lnTo>
                    <a:pt x="1782000" y="0"/>
                  </a:lnTo>
                  <a:lnTo>
                    <a:pt x="1782000" y="468000"/>
                  </a:lnTo>
                </a:path>
              </a:pathLst>
            </a:custGeom>
            <a:noFill/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" name="(b) polygon 17"/>
            <p:cNvSpPr/>
            <p:nvPr/>
          </p:nvSpPr>
          <p:spPr>
            <a:xfrm>
              <a:off x="2361599" y="4219200"/>
              <a:ext cx="1731600" cy="370800"/>
            </a:xfrm>
            <a:custGeom>
              <a:avLst/>
              <a:gdLst/>
              <a:ahLst/>
              <a:cxnLst/>
              <a:rect l="l" t="t" r="r" b="b"/>
              <a:pathLst>
                <a:path w="1731600" h="370800">
                  <a:moveTo>
                    <a:pt x="0" y="370800"/>
                  </a:moveTo>
                  <a:lnTo>
                    <a:pt x="0" y="0"/>
                  </a:lnTo>
                  <a:lnTo>
                    <a:pt x="1627200" y="0"/>
                  </a:lnTo>
                  <a:lnTo>
                    <a:pt x="1627200" y="298800"/>
                  </a:lnTo>
                  <a:lnTo>
                    <a:pt x="1731600" y="298800"/>
                  </a:lnTo>
                  <a:lnTo>
                    <a:pt x="1731600" y="3708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" name="(b) line 18"/>
            <p:cNvSpPr/>
            <p:nvPr/>
          </p:nvSpPr>
          <p:spPr>
            <a:xfrm>
              <a:off x="2361599" y="4219200"/>
              <a:ext cx="1731600" cy="370800"/>
            </a:xfrm>
            <a:custGeom>
              <a:avLst/>
              <a:gdLst/>
              <a:ahLst/>
              <a:cxnLst/>
              <a:rect l="l" t="t" r="r" b="b"/>
              <a:pathLst>
                <a:path w="1731600" h="370800">
                  <a:moveTo>
                    <a:pt x="0" y="370800"/>
                  </a:moveTo>
                  <a:lnTo>
                    <a:pt x="0" y="0"/>
                  </a:lnTo>
                  <a:lnTo>
                    <a:pt x="1627200" y="0"/>
                  </a:lnTo>
                  <a:lnTo>
                    <a:pt x="1627200" y="298800"/>
                  </a:lnTo>
                  <a:lnTo>
                    <a:pt x="1731600" y="298800"/>
                  </a:lnTo>
                </a:path>
              </a:pathLst>
            </a:custGeom>
            <a:noFill/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8" name="(b) line 19"/>
            <p:cNvCxnSpPr/>
            <p:nvPr/>
          </p:nvCxnSpPr>
          <p:spPr>
            <a:xfrm flipV="1">
              <a:off x="2915999" y="4590000"/>
              <a:ext cx="0" cy="414000"/>
            </a:xfrm>
            <a:prstGeom prst="line">
              <a:avLst/>
            </a:prstGeom>
            <a:ln w="6350">
              <a:solidFill>
                <a:srgbClr val="1A1A1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(b) line 20"/>
            <p:cNvCxnSpPr/>
            <p:nvPr/>
          </p:nvCxnSpPr>
          <p:spPr>
            <a:xfrm flipV="1">
              <a:off x="3671999" y="4590000"/>
              <a:ext cx="0" cy="414000"/>
            </a:xfrm>
            <a:prstGeom prst="line">
              <a:avLst/>
            </a:prstGeom>
            <a:ln w="6350">
              <a:solidFill>
                <a:srgbClr val="1A1A1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(b) box 21"/>
            <p:cNvSpPr/>
            <p:nvPr/>
          </p:nvSpPr>
          <p:spPr>
            <a:xfrm>
              <a:off x="2361599" y="4219200"/>
              <a:ext cx="554400" cy="82800"/>
            </a:xfrm>
            <a:prstGeom prst="rect">
              <a:avLst/>
            </a:prstGeom>
            <a:solidFill>
              <a:srgbClr val="DCDCD6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(b) box 22"/>
            <p:cNvSpPr/>
            <p:nvPr/>
          </p:nvSpPr>
          <p:spPr>
            <a:xfrm>
              <a:off x="3671999" y="4219200"/>
              <a:ext cx="316800" cy="82800"/>
            </a:xfrm>
            <a:prstGeom prst="rect">
              <a:avLst/>
            </a:prstGeom>
            <a:solidFill>
              <a:srgbClr val="DCDCD6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(b) box 23"/>
            <p:cNvSpPr/>
            <p:nvPr/>
          </p:nvSpPr>
          <p:spPr>
            <a:xfrm>
              <a:off x="2383200" y="4302000"/>
              <a:ext cx="71999" cy="165599"/>
            </a:xfrm>
            <a:prstGeom prst="rect">
              <a:avLst/>
            </a:prstGeom>
            <a:solidFill>
              <a:srgbClr val="DCDCD6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(b) box 24"/>
            <p:cNvSpPr/>
            <p:nvPr/>
          </p:nvSpPr>
          <p:spPr>
            <a:xfrm>
              <a:off x="3902399" y="4302000"/>
              <a:ext cx="86400" cy="165599"/>
            </a:xfrm>
            <a:prstGeom prst="rect">
              <a:avLst/>
            </a:prstGeom>
            <a:solidFill>
              <a:srgbClr val="DCDCD6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(b) rounded box 25"/>
            <p:cNvSpPr/>
            <p:nvPr/>
          </p:nvSpPr>
          <p:spPr>
            <a:xfrm>
              <a:off x="4093199" y="3978000"/>
              <a:ext cx="504000" cy="1224000"/>
            </a:xfrm>
            <a:prstGeom prst="roundRect">
              <a:avLst>
                <a:gd name="adj" fmla="val 39285"/>
              </a:avLst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(b) rounded box 26"/>
            <p:cNvSpPr/>
            <p:nvPr/>
          </p:nvSpPr>
          <p:spPr>
            <a:xfrm>
              <a:off x="4093199" y="3978000"/>
              <a:ext cx="504000" cy="1224000"/>
            </a:xfrm>
            <a:prstGeom prst="roundRect">
              <a:avLst>
                <a:gd name="adj" fmla="val 39285"/>
              </a:avLst>
            </a:prstGeom>
            <a:solidFill>
              <a:srgbClr val="DCDCD6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(b) box 27"/>
            <p:cNvSpPr/>
            <p:nvPr/>
          </p:nvSpPr>
          <p:spPr>
            <a:xfrm>
              <a:off x="4183199" y="3851999"/>
              <a:ext cx="324000" cy="154801"/>
            </a:xfrm>
            <a:prstGeom prst="rect">
              <a:avLst/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(b) box 28"/>
            <p:cNvSpPr/>
            <p:nvPr/>
          </p:nvSpPr>
          <p:spPr>
            <a:xfrm>
              <a:off x="4129200" y="3798000"/>
              <a:ext cx="431999" cy="53999"/>
            </a:xfrm>
            <a:prstGeom prst="rect">
              <a:avLst/>
            </a:prstGeom>
            <a:solidFill>
              <a:srgbClr val="F2F2E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" name="(b) polygon 29"/>
            <p:cNvSpPr/>
            <p:nvPr/>
          </p:nvSpPr>
          <p:spPr>
            <a:xfrm>
              <a:off x="4597199" y="4590000"/>
              <a:ext cx="478800" cy="198000"/>
            </a:xfrm>
            <a:custGeom>
              <a:avLst/>
              <a:gdLst/>
              <a:ahLst/>
              <a:cxnLst/>
              <a:rect l="l" t="t" r="r" b="b"/>
              <a:pathLst>
                <a:path w="478800" h="198000">
                  <a:moveTo>
                    <a:pt x="0" y="198000"/>
                  </a:moveTo>
                  <a:lnTo>
                    <a:pt x="0" y="0"/>
                  </a:lnTo>
                  <a:lnTo>
                    <a:pt x="478800" y="0"/>
                  </a:lnTo>
                  <a:lnTo>
                    <a:pt x="478800" y="198000"/>
                  </a:lnTo>
                  <a:close/>
                </a:path>
              </a:pathLst>
            </a:custGeom>
            <a:solidFill>
              <a:srgbClr val="F2F2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(b) polygon 30"/>
            <p:cNvSpPr/>
            <p:nvPr/>
          </p:nvSpPr>
          <p:spPr>
            <a:xfrm>
              <a:off x="5075999" y="4590000"/>
              <a:ext cx="61200" cy="280800"/>
            </a:xfrm>
            <a:custGeom>
              <a:avLst/>
              <a:gdLst/>
              <a:ahLst/>
              <a:cxnLst/>
              <a:rect l="l" t="t" r="r" b="b"/>
              <a:pathLst>
                <a:path w="61200" h="280800">
                  <a:moveTo>
                    <a:pt x="0" y="280800"/>
                  </a:moveTo>
                  <a:lnTo>
                    <a:pt x="0" y="0"/>
                  </a:lnTo>
                  <a:lnTo>
                    <a:pt x="61200" y="0"/>
                  </a:lnTo>
                  <a:lnTo>
                    <a:pt x="61200" y="280800"/>
                  </a:lnTo>
                  <a:close/>
                </a:path>
              </a:pathLst>
            </a:custGeom>
            <a:solidFill>
              <a:srgbClr val="F2F2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" name="(b) polygon 31"/>
            <p:cNvSpPr/>
            <p:nvPr/>
          </p:nvSpPr>
          <p:spPr>
            <a:xfrm>
              <a:off x="4597199" y="4392000"/>
              <a:ext cx="478800" cy="198000"/>
            </a:xfrm>
            <a:custGeom>
              <a:avLst/>
              <a:gdLst/>
              <a:ahLst/>
              <a:cxnLst/>
              <a:rect l="l" t="t" r="r" b="b"/>
              <a:pathLst>
                <a:path w="478800" h="198000">
                  <a:moveTo>
                    <a:pt x="0" y="198000"/>
                  </a:moveTo>
                  <a:lnTo>
                    <a:pt x="0" y="0"/>
                  </a:lnTo>
                  <a:lnTo>
                    <a:pt x="478800" y="0"/>
                  </a:lnTo>
                  <a:lnTo>
                    <a:pt x="478800" y="198000"/>
                  </a:lnTo>
                  <a:close/>
                </a:path>
              </a:pathLst>
            </a:custGeom>
            <a:solidFill>
              <a:srgbClr val="DCDC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" name="(b) polygon 32"/>
            <p:cNvSpPr/>
            <p:nvPr/>
          </p:nvSpPr>
          <p:spPr>
            <a:xfrm>
              <a:off x="5075999" y="4309200"/>
              <a:ext cx="61200" cy="280800"/>
            </a:xfrm>
            <a:custGeom>
              <a:avLst/>
              <a:gdLst/>
              <a:ahLst/>
              <a:cxnLst/>
              <a:rect l="l" t="t" r="r" b="b"/>
              <a:pathLst>
                <a:path w="61200" h="280800">
                  <a:moveTo>
                    <a:pt x="0" y="280800"/>
                  </a:moveTo>
                  <a:lnTo>
                    <a:pt x="0" y="0"/>
                  </a:lnTo>
                  <a:lnTo>
                    <a:pt x="61200" y="0"/>
                  </a:lnTo>
                  <a:lnTo>
                    <a:pt x="61200" y="280800"/>
                  </a:lnTo>
                  <a:close/>
                </a:path>
              </a:pathLst>
            </a:custGeom>
            <a:solidFill>
              <a:srgbClr val="DCDC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" name="(b) line 33"/>
            <p:cNvSpPr/>
            <p:nvPr/>
          </p:nvSpPr>
          <p:spPr>
            <a:xfrm>
              <a:off x="4597199" y="4590000"/>
              <a:ext cx="478800" cy="198000"/>
            </a:xfrm>
            <a:custGeom>
              <a:avLst/>
              <a:gdLst/>
              <a:ahLst/>
              <a:cxnLst/>
              <a:rect l="l" t="t" r="r" b="b"/>
              <a:pathLst>
                <a:path w="478800" h="198000">
                  <a:moveTo>
                    <a:pt x="0" y="0"/>
                  </a:moveTo>
                  <a:lnTo>
                    <a:pt x="0" y="198000"/>
                  </a:lnTo>
                  <a:lnTo>
                    <a:pt x="478800" y="198000"/>
                  </a:lnTo>
                  <a:lnTo>
                    <a:pt x="478800" y="0"/>
                  </a:lnTo>
                </a:path>
              </a:pathLst>
            </a:custGeom>
            <a:noFill/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" name="(b) line 34"/>
            <p:cNvSpPr/>
            <p:nvPr/>
          </p:nvSpPr>
          <p:spPr>
            <a:xfrm>
              <a:off x="5075999" y="4590000"/>
              <a:ext cx="61200" cy="280800"/>
            </a:xfrm>
            <a:custGeom>
              <a:avLst/>
              <a:gdLst/>
              <a:ahLst/>
              <a:cxnLst/>
              <a:rect l="l" t="t" r="r" b="b"/>
              <a:pathLst>
                <a:path w="61200" h="280800">
                  <a:moveTo>
                    <a:pt x="0" y="0"/>
                  </a:moveTo>
                  <a:lnTo>
                    <a:pt x="0" y="280800"/>
                  </a:lnTo>
                  <a:lnTo>
                    <a:pt x="61200" y="280800"/>
                  </a:lnTo>
                  <a:lnTo>
                    <a:pt x="61200" y="0"/>
                  </a:lnTo>
                </a:path>
              </a:pathLst>
            </a:custGeom>
            <a:noFill/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" name="(b) line 35"/>
            <p:cNvSpPr/>
            <p:nvPr/>
          </p:nvSpPr>
          <p:spPr>
            <a:xfrm>
              <a:off x="4597199" y="4392000"/>
              <a:ext cx="478800" cy="198000"/>
            </a:xfrm>
            <a:custGeom>
              <a:avLst/>
              <a:gdLst/>
              <a:ahLst/>
              <a:cxnLst/>
              <a:rect l="l" t="t" r="r" b="b"/>
              <a:pathLst>
                <a:path w="478800" h="198000">
                  <a:moveTo>
                    <a:pt x="0" y="198000"/>
                  </a:moveTo>
                  <a:lnTo>
                    <a:pt x="0" y="0"/>
                  </a:lnTo>
                  <a:lnTo>
                    <a:pt x="478800" y="0"/>
                  </a:lnTo>
                  <a:lnTo>
                    <a:pt x="478800" y="198000"/>
                  </a:lnTo>
                </a:path>
              </a:pathLst>
            </a:custGeom>
            <a:noFill/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" name="(b) line 36"/>
            <p:cNvSpPr/>
            <p:nvPr/>
          </p:nvSpPr>
          <p:spPr>
            <a:xfrm>
              <a:off x="5075999" y="4309200"/>
              <a:ext cx="61200" cy="280800"/>
            </a:xfrm>
            <a:custGeom>
              <a:avLst/>
              <a:gdLst/>
              <a:ahLst/>
              <a:cxnLst/>
              <a:rect l="l" t="t" r="r" b="b"/>
              <a:pathLst>
                <a:path w="61200" h="280800">
                  <a:moveTo>
                    <a:pt x="0" y="280800"/>
                  </a:moveTo>
                  <a:lnTo>
                    <a:pt x="0" y="0"/>
                  </a:lnTo>
                  <a:lnTo>
                    <a:pt x="61200" y="0"/>
                  </a:lnTo>
                  <a:lnTo>
                    <a:pt x="61200" y="280800"/>
                  </a:lnTo>
                </a:path>
              </a:pathLst>
            </a:custGeom>
            <a:noFill/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" name="(b) box 37"/>
            <p:cNvSpPr/>
            <p:nvPr/>
          </p:nvSpPr>
          <p:spPr>
            <a:xfrm>
              <a:off x="2944799" y="4219200"/>
              <a:ext cx="698400" cy="46800"/>
            </a:xfrm>
            <a:prstGeom prst="rect">
              <a:avLst/>
            </a:prstGeom>
            <a:solidFill>
              <a:srgbClr val="D7E4F0"/>
            </a:solidFill>
            <a:ln w="635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7" name="(b) line 38"/>
            <p:cNvCxnSpPr/>
            <p:nvPr/>
          </p:nvCxnSpPr>
          <p:spPr>
            <a:xfrm flipV="1">
              <a:off x="3044571" y="4219200"/>
              <a:ext cx="0" cy="46800"/>
            </a:xfrm>
            <a:prstGeom prst="line">
              <a:avLst/>
            </a:prstGeom>
            <a:ln w="6350">
              <a:solidFill>
                <a:srgbClr val="1A1A1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(b) line 39"/>
            <p:cNvCxnSpPr/>
            <p:nvPr/>
          </p:nvCxnSpPr>
          <p:spPr>
            <a:xfrm flipV="1">
              <a:off x="3144342" y="4219200"/>
              <a:ext cx="0" cy="46800"/>
            </a:xfrm>
            <a:prstGeom prst="line">
              <a:avLst/>
            </a:prstGeom>
            <a:ln w="6350">
              <a:solidFill>
                <a:srgbClr val="1A1A1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(b) line 40"/>
            <p:cNvCxnSpPr/>
            <p:nvPr/>
          </p:nvCxnSpPr>
          <p:spPr>
            <a:xfrm flipV="1">
              <a:off x="3244114" y="4219200"/>
              <a:ext cx="0" cy="46800"/>
            </a:xfrm>
            <a:prstGeom prst="line">
              <a:avLst/>
            </a:prstGeom>
            <a:ln w="6350">
              <a:solidFill>
                <a:srgbClr val="1A1A1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(b) line 41"/>
            <p:cNvCxnSpPr/>
            <p:nvPr/>
          </p:nvCxnSpPr>
          <p:spPr>
            <a:xfrm flipV="1">
              <a:off x="3343885" y="4219200"/>
              <a:ext cx="0" cy="46800"/>
            </a:xfrm>
            <a:prstGeom prst="line">
              <a:avLst/>
            </a:prstGeom>
            <a:ln w="6350">
              <a:solidFill>
                <a:srgbClr val="1A1A1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(b) line 42"/>
            <p:cNvCxnSpPr/>
            <p:nvPr/>
          </p:nvCxnSpPr>
          <p:spPr>
            <a:xfrm flipV="1">
              <a:off x="3443657" y="4219200"/>
              <a:ext cx="0" cy="46800"/>
            </a:xfrm>
            <a:prstGeom prst="line">
              <a:avLst/>
            </a:prstGeom>
            <a:ln w="6350">
              <a:solidFill>
                <a:srgbClr val="1A1A1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(b) line 43"/>
            <p:cNvCxnSpPr/>
            <p:nvPr/>
          </p:nvCxnSpPr>
          <p:spPr>
            <a:xfrm flipV="1">
              <a:off x="3543428" y="4219200"/>
              <a:ext cx="0" cy="46800"/>
            </a:xfrm>
            <a:prstGeom prst="line">
              <a:avLst/>
            </a:prstGeom>
            <a:ln w="6350">
              <a:solidFill>
                <a:srgbClr val="1A1A1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(b) polygon 44"/>
            <p:cNvSpPr/>
            <p:nvPr/>
          </p:nvSpPr>
          <p:spPr>
            <a:xfrm>
              <a:off x="2368800" y="4532400"/>
              <a:ext cx="1958399" cy="57600"/>
            </a:xfrm>
            <a:custGeom>
              <a:avLst/>
              <a:gdLst/>
              <a:ahLst/>
              <a:cxnLst/>
              <a:rect l="l" t="t" r="r" b="b"/>
              <a:pathLst>
                <a:path w="1958399" h="57600">
                  <a:moveTo>
                    <a:pt x="0" y="57600"/>
                  </a:moveTo>
                  <a:lnTo>
                    <a:pt x="0" y="0"/>
                  </a:lnTo>
                  <a:lnTo>
                    <a:pt x="1958399" y="0"/>
                  </a:lnTo>
                  <a:lnTo>
                    <a:pt x="1958399" y="57600"/>
                  </a:lnTo>
                  <a:close/>
                </a:path>
              </a:pathLst>
            </a:custGeom>
            <a:solidFill>
              <a:srgbClr val="CFCFC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4" name="(b) line 45"/>
            <p:cNvSpPr/>
            <p:nvPr/>
          </p:nvSpPr>
          <p:spPr>
            <a:xfrm>
              <a:off x="2368800" y="4532400"/>
              <a:ext cx="1958399" cy="57600"/>
            </a:xfrm>
            <a:custGeom>
              <a:avLst/>
              <a:gdLst/>
              <a:ahLst/>
              <a:cxnLst/>
              <a:rect l="l" t="t" r="r" b="b"/>
              <a:pathLst>
                <a:path w="1958399" h="57600">
                  <a:moveTo>
                    <a:pt x="0" y="57600"/>
                  </a:moveTo>
                  <a:lnTo>
                    <a:pt x="0" y="0"/>
                  </a:lnTo>
                  <a:lnTo>
                    <a:pt x="1958399" y="0"/>
                  </a:lnTo>
                  <a:lnTo>
                    <a:pt x="1958399" y="57600"/>
                  </a:lnTo>
                </a:path>
              </a:pathLst>
            </a:custGeom>
            <a:noFill/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5" name="(b) box 46"/>
            <p:cNvSpPr/>
            <p:nvPr/>
          </p:nvSpPr>
          <p:spPr>
            <a:xfrm>
              <a:off x="2390400" y="4467599"/>
              <a:ext cx="57599" cy="64801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6" name="(b) box 47"/>
            <p:cNvSpPr/>
            <p:nvPr/>
          </p:nvSpPr>
          <p:spPr>
            <a:xfrm>
              <a:off x="3916799" y="4467599"/>
              <a:ext cx="57600" cy="64801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7" name="(b) box 48"/>
            <p:cNvSpPr/>
            <p:nvPr/>
          </p:nvSpPr>
          <p:spPr>
            <a:xfrm>
              <a:off x="2476799" y="4302000"/>
              <a:ext cx="79200" cy="20159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8" name="(b) box 49"/>
            <p:cNvSpPr/>
            <p:nvPr/>
          </p:nvSpPr>
          <p:spPr>
            <a:xfrm>
              <a:off x="2620800" y="4302000"/>
              <a:ext cx="79199" cy="20159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(b) box 50"/>
            <p:cNvSpPr/>
            <p:nvPr/>
          </p:nvSpPr>
          <p:spPr>
            <a:xfrm>
              <a:off x="2570399" y="4330800"/>
              <a:ext cx="36001" cy="201600"/>
            </a:xfrm>
            <a:prstGeom prst="rect">
              <a:avLst/>
            </a:prstGeom>
            <a:solidFill>
              <a:srgbClr val="CFCFC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0" name="(b) box 51"/>
            <p:cNvSpPr/>
            <p:nvPr/>
          </p:nvSpPr>
          <p:spPr>
            <a:xfrm>
              <a:off x="2743199" y="4302000"/>
              <a:ext cx="144000" cy="190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1" name="(b) box 52"/>
            <p:cNvSpPr/>
            <p:nvPr/>
          </p:nvSpPr>
          <p:spPr>
            <a:xfrm>
              <a:off x="2728799" y="4507200"/>
              <a:ext cx="172800" cy="25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2" name="(b) box 53"/>
            <p:cNvSpPr/>
            <p:nvPr/>
          </p:nvSpPr>
          <p:spPr>
            <a:xfrm>
              <a:off x="3707999" y="4302000"/>
              <a:ext cx="144000" cy="190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3" name="(b) box 54"/>
            <p:cNvSpPr/>
            <p:nvPr/>
          </p:nvSpPr>
          <p:spPr>
            <a:xfrm>
              <a:off x="3693600" y="4507200"/>
              <a:ext cx="172799" cy="25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4" name="(b) box 55"/>
            <p:cNvSpPr/>
            <p:nvPr/>
          </p:nvSpPr>
          <p:spPr>
            <a:xfrm>
              <a:off x="3023999" y="4266000"/>
              <a:ext cx="540000" cy="136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5" name="(b) polygon 56"/>
            <p:cNvSpPr/>
            <p:nvPr/>
          </p:nvSpPr>
          <p:spPr>
            <a:xfrm>
              <a:off x="3005999" y="4420800"/>
              <a:ext cx="576000" cy="169200"/>
            </a:xfrm>
            <a:custGeom>
              <a:avLst/>
              <a:gdLst/>
              <a:ahLst/>
              <a:cxnLst/>
              <a:rect l="l" t="t" r="r" b="b"/>
              <a:pathLst>
                <a:path w="576000" h="169200">
                  <a:moveTo>
                    <a:pt x="0" y="169200"/>
                  </a:moveTo>
                  <a:lnTo>
                    <a:pt x="0" y="0"/>
                  </a:lnTo>
                  <a:lnTo>
                    <a:pt x="576000" y="0"/>
                  </a:lnTo>
                  <a:lnTo>
                    <a:pt x="576000" y="169200"/>
                  </a:lnTo>
                  <a:close/>
                </a:path>
              </a:pathLst>
            </a:custGeom>
            <a:solidFill>
              <a:srgbClr val="A6A6A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6" name="(b) arrow 57"/>
            <p:cNvCxnSpPr/>
            <p:nvPr/>
          </p:nvCxnSpPr>
          <p:spPr>
            <a:xfrm flipH="1">
              <a:off x="5201999" y="4590000"/>
              <a:ext cx="396001" cy="0"/>
            </a:xfrm>
            <a:prstGeom prst="line">
              <a:avLst/>
            </a:prstGeom>
            <a:ln w="15240">
              <a:solidFill>
                <a:srgbClr val="1A1A1A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(b) circle 58"/>
            <p:cNvSpPr/>
            <p:nvPr/>
          </p:nvSpPr>
          <p:spPr>
            <a:xfrm>
              <a:off x="4147199" y="4021200"/>
              <a:ext cx="216001" cy="216000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8" name="(b) polygon 59"/>
            <p:cNvSpPr/>
            <p:nvPr/>
          </p:nvSpPr>
          <p:spPr>
            <a:xfrm>
              <a:off x="4093199" y="4266000"/>
              <a:ext cx="1044000" cy="324000"/>
            </a:xfrm>
            <a:custGeom>
              <a:avLst/>
              <a:gdLst/>
              <a:ahLst/>
              <a:cxnLst/>
              <a:rect l="l" t="t" r="r" b="b"/>
              <a:pathLst>
                <a:path w="1044000" h="324000">
                  <a:moveTo>
                    <a:pt x="46800" y="255600"/>
                  </a:moveTo>
                  <a:lnTo>
                    <a:pt x="46800" y="0"/>
                  </a:lnTo>
                  <a:lnTo>
                    <a:pt x="82800" y="0"/>
                  </a:lnTo>
                  <a:lnTo>
                    <a:pt x="133201" y="0"/>
                  </a:lnTo>
                  <a:lnTo>
                    <a:pt x="133201" y="36000"/>
                  </a:lnTo>
                  <a:lnTo>
                    <a:pt x="147600" y="75600"/>
                  </a:lnTo>
                  <a:lnTo>
                    <a:pt x="176400" y="104400"/>
                  </a:lnTo>
                  <a:lnTo>
                    <a:pt x="208800" y="117000"/>
                  </a:lnTo>
                  <a:lnTo>
                    <a:pt x="255601" y="120600"/>
                  </a:lnTo>
                  <a:lnTo>
                    <a:pt x="370800" y="133200"/>
                  </a:lnTo>
                  <a:lnTo>
                    <a:pt x="504000" y="154800"/>
                  </a:lnTo>
                  <a:lnTo>
                    <a:pt x="1044000" y="154800"/>
                  </a:lnTo>
                  <a:lnTo>
                    <a:pt x="1044000" y="324000"/>
                  </a:lnTo>
                  <a:lnTo>
                    <a:pt x="0" y="324000"/>
                  </a:lnTo>
                  <a:lnTo>
                    <a:pt x="0" y="2556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9" name="(b) line 60"/>
            <p:cNvSpPr/>
            <p:nvPr/>
          </p:nvSpPr>
          <p:spPr>
            <a:xfrm>
              <a:off x="3005999" y="4420800"/>
              <a:ext cx="576000" cy="169200"/>
            </a:xfrm>
            <a:custGeom>
              <a:avLst/>
              <a:gdLst/>
              <a:ahLst/>
              <a:cxnLst/>
              <a:rect l="l" t="t" r="r" b="b"/>
              <a:pathLst>
                <a:path w="576000" h="169200">
                  <a:moveTo>
                    <a:pt x="0" y="169200"/>
                  </a:moveTo>
                  <a:lnTo>
                    <a:pt x="0" y="0"/>
                  </a:lnTo>
                  <a:lnTo>
                    <a:pt x="576000" y="0"/>
                  </a:lnTo>
                  <a:lnTo>
                    <a:pt x="576000" y="169200"/>
                  </a:lnTo>
                </a:path>
              </a:pathLst>
            </a:custGeom>
            <a:noFill/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0" name="(b) line 61"/>
            <p:cNvSpPr/>
            <p:nvPr/>
          </p:nvSpPr>
          <p:spPr>
            <a:xfrm>
              <a:off x="4139999" y="4266000"/>
              <a:ext cx="36000" cy="255600"/>
            </a:xfrm>
            <a:custGeom>
              <a:avLst/>
              <a:gdLst/>
              <a:ahLst/>
              <a:cxnLst/>
              <a:rect l="l" t="t" r="r" b="b"/>
              <a:pathLst>
                <a:path w="36000" h="255600">
                  <a:moveTo>
                    <a:pt x="0" y="255600"/>
                  </a:moveTo>
                  <a:lnTo>
                    <a:pt x="0" y="0"/>
                  </a:lnTo>
                  <a:lnTo>
                    <a:pt x="36000" y="0"/>
                  </a:lnTo>
                </a:path>
              </a:pathLst>
            </a:custGeom>
            <a:noFill/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1" name="(b) line 62"/>
            <p:cNvSpPr/>
            <p:nvPr/>
          </p:nvSpPr>
          <p:spPr>
            <a:xfrm>
              <a:off x="4226400" y="4266000"/>
              <a:ext cx="910799" cy="154800"/>
            </a:xfrm>
            <a:custGeom>
              <a:avLst/>
              <a:gdLst/>
              <a:ahLst/>
              <a:cxnLst/>
              <a:rect l="l" t="t" r="r" b="b"/>
              <a:pathLst>
                <a:path w="910799" h="154800">
                  <a:moveTo>
                    <a:pt x="0" y="0"/>
                  </a:moveTo>
                  <a:lnTo>
                    <a:pt x="0" y="36000"/>
                  </a:lnTo>
                  <a:lnTo>
                    <a:pt x="14399" y="75600"/>
                  </a:lnTo>
                  <a:lnTo>
                    <a:pt x="43199" y="104400"/>
                  </a:lnTo>
                  <a:lnTo>
                    <a:pt x="75599" y="117000"/>
                  </a:lnTo>
                  <a:lnTo>
                    <a:pt x="122400" y="120600"/>
                  </a:lnTo>
                  <a:lnTo>
                    <a:pt x="237599" y="133200"/>
                  </a:lnTo>
                  <a:lnTo>
                    <a:pt x="370799" y="154800"/>
                  </a:lnTo>
                  <a:lnTo>
                    <a:pt x="910799" y="154800"/>
                  </a:lnTo>
                </a:path>
              </a:pathLst>
            </a:custGeom>
            <a:noFill/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2" name="(b) line 63"/>
            <p:cNvCxnSpPr/>
            <p:nvPr/>
          </p:nvCxnSpPr>
          <p:spPr>
            <a:xfrm flipV="1">
              <a:off x="2757600" y="4302000"/>
              <a:ext cx="0" cy="190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(b) line 64"/>
            <p:cNvCxnSpPr/>
            <p:nvPr/>
          </p:nvCxnSpPr>
          <p:spPr>
            <a:xfrm flipV="1">
              <a:off x="2786399" y="4302000"/>
              <a:ext cx="0" cy="190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(b) line 65"/>
            <p:cNvCxnSpPr/>
            <p:nvPr/>
          </p:nvCxnSpPr>
          <p:spPr>
            <a:xfrm flipV="1">
              <a:off x="2815200" y="4302000"/>
              <a:ext cx="0" cy="190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(b) line 66"/>
            <p:cNvCxnSpPr/>
            <p:nvPr/>
          </p:nvCxnSpPr>
          <p:spPr>
            <a:xfrm flipV="1">
              <a:off x="2843999" y="4302000"/>
              <a:ext cx="0" cy="190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(b) line 67"/>
            <p:cNvCxnSpPr/>
            <p:nvPr/>
          </p:nvCxnSpPr>
          <p:spPr>
            <a:xfrm flipV="1">
              <a:off x="2872800" y="4302000"/>
              <a:ext cx="0" cy="190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(b) line 68"/>
            <p:cNvCxnSpPr/>
            <p:nvPr/>
          </p:nvCxnSpPr>
          <p:spPr>
            <a:xfrm flipV="1">
              <a:off x="2743199" y="4507200"/>
              <a:ext cx="0" cy="252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(b) line 69"/>
            <p:cNvCxnSpPr/>
            <p:nvPr/>
          </p:nvCxnSpPr>
          <p:spPr>
            <a:xfrm flipV="1">
              <a:off x="2771999" y="4507200"/>
              <a:ext cx="0" cy="252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(b) line 70"/>
            <p:cNvCxnSpPr/>
            <p:nvPr/>
          </p:nvCxnSpPr>
          <p:spPr>
            <a:xfrm flipV="1">
              <a:off x="2800800" y="4507200"/>
              <a:ext cx="0" cy="252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(b) line 71"/>
            <p:cNvCxnSpPr/>
            <p:nvPr/>
          </p:nvCxnSpPr>
          <p:spPr>
            <a:xfrm flipV="1">
              <a:off x="2829599" y="4507200"/>
              <a:ext cx="0" cy="252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(b) line 72"/>
            <p:cNvCxnSpPr/>
            <p:nvPr/>
          </p:nvCxnSpPr>
          <p:spPr>
            <a:xfrm flipV="1">
              <a:off x="2858400" y="4507200"/>
              <a:ext cx="0" cy="252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(b) line 73"/>
            <p:cNvCxnSpPr/>
            <p:nvPr/>
          </p:nvCxnSpPr>
          <p:spPr>
            <a:xfrm flipV="1">
              <a:off x="2887199" y="4507200"/>
              <a:ext cx="0" cy="252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(b) line 74"/>
            <p:cNvCxnSpPr/>
            <p:nvPr/>
          </p:nvCxnSpPr>
          <p:spPr>
            <a:xfrm flipV="1">
              <a:off x="3722399" y="4302000"/>
              <a:ext cx="0" cy="190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(b) line 75"/>
            <p:cNvCxnSpPr/>
            <p:nvPr/>
          </p:nvCxnSpPr>
          <p:spPr>
            <a:xfrm flipV="1">
              <a:off x="3751200" y="4302000"/>
              <a:ext cx="0" cy="190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(b) line 76"/>
            <p:cNvCxnSpPr/>
            <p:nvPr/>
          </p:nvCxnSpPr>
          <p:spPr>
            <a:xfrm flipV="1">
              <a:off x="3779999" y="4302000"/>
              <a:ext cx="0" cy="190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(b) line 77"/>
            <p:cNvCxnSpPr/>
            <p:nvPr/>
          </p:nvCxnSpPr>
          <p:spPr>
            <a:xfrm flipV="1">
              <a:off x="3808799" y="4302000"/>
              <a:ext cx="0" cy="190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(b) line 78"/>
            <p:cNvCxnSpPr/>
            <p:nvPr/>
          </p:nvCxnSpPr>
          <p:spPr>
            <a:xfrm flipV="1">
              <a:off x="3837599" y="4302000"/>
              <a:ext cx="0" cy="190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(b) line 79"/>
            <p:cNvCxnSpPr/>
            <p:nvPr/>
          </p:nvCxnSpPr>
          <p:spPr>
            <a:xfrm flipV="1">
              <a:off x="3707999" y="4507200"/>
              <a:ext cx="0" cy="252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(b) line 80"/>
            <p:cNvCxnSpPr/>
            <p:nvPr/>
          </p:nvCxnSpPr>
          <p:spPr>
            <a:xfrm flipV="1">
              <a:off x="3736800" y="4507200"/>
              <a:ext cx="0" cy="252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(b) line 81"/>
            <p:cNvCxnSpPr/>
            <p:nvPr/>
          </p:nvCxnSpPr>
          <p:spPr>
            <a:xfrm flipV="1">
              <a:off x="3765600" y="4507200"/>
              <a:ext cx="0" cy="252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(b) line 82"/>
            <p:cNvCxnSpPr/>
            <p:nvPr/>
          </p:nvCxnSpPr>
          <p:spPr>
            <a:xfrm flipV="1">
              <a:off x="3794399" y="4507200"/>
              <a:ext cx="0" cy="252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(b) line 83"/>
            <p:cNvCxnSpPr/>
            <p:nvPr/>
          </p:nvCxnSpPr>
          <p:spPr>
            <a:xfrm flipV="1">
              <a:off x="3823199" y="4507200"/>
              <a:ext cx="0" cy="252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(b) line 84"/>
            <p:cNvCxnSpPr/>
            <p:nvPr/>
          </p:nvCxnSpPr>
          <p:spPr>
            <a:xfrm flipV="1">
              <a:off x="3851999" y="4507200"/>
              <a:ext cx="0" cy="252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(b) line 85"/>
            <p:cNvCxnSpPr/>
            <p:nvPr/>
          </p:nvCxnSpPr>
          <p:spPr>
            <a:xfrm flipV="1">
              <a:off x="3042000" y="4266000"/>
              <a:ext cx="0" cy="136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(b) line 86"/>
            <p:cNvCxnSpPr/>
            <p:nvPr/>
          </p:nvCxnSpPr>
          <p:spPr>
            <a:xfrm flipV="1">
              <a:off x="3078000" y="4266000"/>
              <a:ext cx="0" cy="136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(b) line 87"/>
            <p:cNvCxnSpPr/>
            <p:nvPr/>
          </p:nvCxnSpPr>
          <p:spPr>
            <a:xfrm flipV="1">
              <a:off x="3113999" y="4266000"/>
              <a:ext cx="0" cy="136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(b) line 88"/>
            <p:cNvCxnSpPr/>
            <p:nvPr/>
          </p:nvCxnSpPr>
          <p:spPr>
            <a:xfrm flipV="1">
              <a:off x="3149999" y="4266000"/>
              <a:ext cx="0" cy="136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(b) line 89"/>
            <p:cNvCxnSpPr/>
            <p:nvPr/>
          </p:nvCxnSpPr>
          <p:spPr>
            <a:xfrm flipV="1">
              <a:off x="3185999" y="4266000"/>
              <a:ext cx="0" cy="136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(b) line 90"/>
            <p:cNvCxnSpPr/>
            <p:nvPr/>
          </p:nvCxnSpPr>
          <p:spPr>
            <a:xfrm flipV="1">
              <a:off x="3222000" y="4266000"/>
              <a:ext cx="0" cy="136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(b) line 91"/>
            <p:cNvCxnSpPr/>
            <p:nvPr/>
          </p:nvCxnSpPr>
          <p:spPr>
            <a:xfrm flipV="1">
              <a:off x="3258000" y="4266000"/>
              <a:ext cx="0" cy="136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(b) line 92"/>
            <p:cNvCxnSpPr/>
            <p:nvPr/>
          </p:nvCxnSpPr>
          <p:spPr>
            <a:xfrm flipV="1">
              <a:off x="3293999" y="4266000"/>
              <a:ext cx="0" cy="136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(b) line 93"/>
            <p:cNvCxnSpPr/>
            <p:nvPr/>
          </p:nvCxnSpPr>
          <p:spPr>
            <a:xfrm flipV="1">
              <a:off x="3330000" y="4266000"/>
              <a:ext cx="0" cy="136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(b) line 94"/>
            <p:cNvCxnSpPr/>
            <p:nvPr/>
          </p:nvCxnSpPr>
          <p:spPr>
            <a:xfrm flipV="1">
              <a:off x="3365999" y="4266000"/>
              <a:ext cx="0" cy="136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(b) line 95"/>
            <p:cNvCxnSpPr/>
            <p:nvPr/>
          </p:nvCxnSpPr>
          <p:spPr>
            <a:xfrm flipV="1">
              <a:off x="3402000" y="4266000"/>
              <a:ext cx="0" cy="136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(b) line 96"/>
            <p:cNvCxnSpPr/>
            <p:nvPr/>
          </p:nvCxnSpPr>
          <p:spPr>
            <a:xfrm flipV="1">
              <a:off x="3437999" y="4266000"/>
              <a:ext cx="0" cy="136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(b) line 97"/>
            <p:cNvCxnSpPr/>
            <p:nvPr/>
          </p:nvCxnSpPr>
          <p:spPr>
            <a:xfrm flipV="1">
              <a:off x="3473999" y="4266000"/>
              <a:ext cx="0" cy="136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(b) line 98"/>
            <p:cNvCxnSpPr/>
            <p:nvPr/>
          </p:nvCxnSpPr>
          <p:spPr>
            <a:xfrm flipV="1">
              <a:off x="3509999" y="4266000"/>
              <a:ext cx="0" cy="136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(b) line 99"/>
            <p:cNvCxnSpPr/>
            <p:nvPr/>
          </p:nvCxnSpPr>
          <p:spPr>
            <a:xfrm flipV="1">
              <a:off x="3545999" y="4266000"/>
              <a:ext cx="0" cy="136800"/>
            </a:xfrm>
            <a:prstGeom prst="line">
              <a:avLst/>
            </a:prstGeom>
            <a:ln w="508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(b) polygon 100"/>
            <p:cNvSpPr/>
            <p:nvPr/>
          </p:nvSpPr>
          <p:spPr>
            <a:xfrm>
              <a:off x="4175999" y="4186800"/>
              <a:ext cx="50401" cy="93600"/>
            </a:xfrm>
            <a:custGeom>
              <a:avLst/>
              <a:gdLst/>
              <a:ahLst/>
              <a:cxnLst/>
              <a:rect l="l" t="t" r="r" b="b"/>
              <a:pathLst>
                <a:path w="50401" h="93600">
                  <a:moveTo>
                    <a:pt x="0" y="93600"/>
                  </a:moveTo>
                  <a:lnTo>
                    <a:pt x="0" y="0"/>
                  </a:lnTo>
                  <a:lnTo>
                    <a:pt x="50401" y="0"/>
                  </a:lnTo>
                  <a:lnTo>
                    <a:pt x="50401" y="936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0" name="(b) line 101"/>
            <p:cNvCxnSpPr/>
            <p:nvPr/>
          </p:nvCxnSpPr>
          <p:spPr>
            <a:xfrm flipV="1">
              <a:off x="4175999" y="4202625"/>
              <a:ext cx="0" cy="63375"/>
            </a:xfrm>
            <a:prstGeom prst="line">
              <a:avLst/>
            </a:prstGeom>
            <a:ln w="12700">
              <a:solidFill>
                <a:srgbClr val="1A1A1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(b) line 102"/>
            <p:cNvCxnSpPr/>
            <p:nvPr/>
          </p:nvCxnSpPr>
          <p:spPr>
            <a:xfrm flipV="1">
              <a:off x="4226400" y="4233289"/>
              <a:ext cx="0" cy="32711"/>
            </a:xfrm>
            <a:prstGeom prst="line">
              <a:avLst/>
            </a:prstGeom>
            <a:ln w="12700">
              <a:solidFill>
                <a:srgbClr val="1A1A1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2" name="(b) circle 103"/>
            <p:cNvSpPr/>
            <p:nvPr/>
          </p:nvSpPr>
          <p:spPr>
            <a:xfrm>
              <a:off x="2399400" y="4480200"/>
              <a:ext cx="39599" cy="3960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3" name="(b) circle 104"/>
            <p:cNvSpPr/>
            <p:nvPr/>
          </p:nvSpPr>
          <p:spPr>
            <a:xfrm>
              <a:off x="3925800" y="4480200"/>
              <a:ext cx="39600" cy="3960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4" name="(b) box 105"/>
            <p:cNvSpPr/>
            <p:nvPr/>
          </p:nvSpPr>
          <p:spPr>
            <a:xfrm>
              <a:off x="2743199" y="4302000"/>
              <a:ext cx="144000" cy="190800"/>
            </a:xfrm>
            <a:prstGeom prst="rect">
              <a:avLst/>
            </a:prstGeom>
            <a:noFill/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5" name="(b) box 106"/>
            <p:cNvSpPr/>
            <p:nvPr/>
          </p:nvSpPr>
          <p:spPr>
            <a:xfrm>
              <a:off x="2728799" y="4507200"/>
              <a:ext cx="172800" cy="25200"/>
            </a:xfrm>
            <a:prstGeom prst="rect">
              <a:avLst/>
            </a:prstGeom>
            <a:noFill/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6" name="(b) box 107"/>
            <p:cNvSpPr/>
            <p:nvPr/>
          </p:nvSpPr>
          <p:spPr>
            <a:xfrm>
              <a:off x="3707999" y="4302000"/>
              <a:ext cx="144000" cy="190800"/>
            </a:xfrm>
            <a:prstGeom prst="rect">
              <a:avLst/>
            </a:prstGeom>
            <a:noFill/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7" name="(b) box 108"/>
            <p:cNvSpPr/>
            <p:nvPr/>
          </p:nvSpPr>
          <p:spPr>
            <a:xfrm>
              <a:off x="3693600" y="4507200"/>
              <a:ext cx="172799" cy="25200"/>
            </a:xfrm>
            <a:prstGeom prst="rect">
              <a:avLst/>
            </a:prstGeom>
            <a:noFill/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8" name="(b) box 109"/>
            <p:cNvSpPr/>
            <p:nvPr/>
          </p:nvSpPr>
          <p:spPr>
            <a:xfrm>
              <a:off x="3023999" y="4266000"/>
              <a:ext cx="540000" cy="136800"/>
            </a:xfrm>
            <a:prstGeom prst="rect">
              <a:avLst/>
            </a:prstGeom>
            <a:noFill/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9" name="(b) polygon 110"/>
            <p:cNvSpPr/>
            <p:nvPr/>
          </p:nvSpPr>
          <p:spPr>
            <a:xfrm>
              <a:off x="4093199" y="4532400"/>
              <a:ext cx="244801" cy="57600"/>
            </a:xfrm>
            <a:custGeom>
              <a:avLst/>
              <a:gdLst/>
              <a:ahLst/>
              <a:cxnLst/>
              <a:rect l="l" t="t" r="r" b="b"/>
              <a:pathLst>
                <a:path w="244801" h="57600">
                  <a:moveTo>
                    <a:pt x="0" y="57600"/>
                  </a:moveTo>
                  <a:lnTo>
                    <a:pt x="0" y="0"/>
                  </a:lnTo>
                  <a:lnTo>
                    <a:pt x="244801" y="0"/>
                  </a:lnTo>
                  <a:lnTo>
                    <a:pt x="244801" y="57600"/>
                  </a:lnTo>
                  <a:close/>
                </a:path>
              </a:pathLst>
            </a:custGeom>
            <a:solidFill>
              <a:srgbClr val="CFCFC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0" name="(b) line 111"/>
            <p:cNvSpPr/>
            <p:nvPr/>
          </p:nvSpPr>
          <p:spPr>
            <a:xfrm>
              <a:off x="4093199" y="4532400"/>
              <a:ext cx="244801" cy="57600"/>
            </a:xfrm>
            <a:custGeom>
              <a:avLst/>
              <a:gdLst/>
              <a:ahLst/>
              <a:cxnLst/>
              <a:rect l="l" t="t" r="r" b="b"/>
              <a:pathLst>
                <a:path w="244801" h="57600">
                  <a:moveTo>
                    <a:pt x="0" y="57600"/>
                  </a:moveTo>
                  <a:lnTo>
                    <a:pt x="0" y="0"/>
                  </a:lnTo>
                  <a:lnTo>
                    <a:pt x="244801" y="0"/>
                  </a:lnTo>
                  <a:lnTo>
                    <a:pt x="244801" y="57600"/>
                  </a:lnTo>
                </a:path>
              </a:pathLst>
            </a:custGeom>
            <a:noFill/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1" name="(b) box 112"/>
            <p:cNvSpPr/>
            <p:nvPr/>
          </p:nvSpPr>
          <p:spPr>
            <a:xfrm>
              <a:off x="2512800" y="4366800"/>
              <a:ext cx="43200" cy="79199"/>
            </a:xfrm>
            <a:prstGeom prst="rect">
              <a:avLst/>
            </a:prstGeom>
            <a:solidFill>
              <a:srgbClr val="C9A227"/>
            </a:solidFill>
            <a:ln w="635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2" name="(b) box 113"/>
            <p:cNvSpPr/>
            <p:nvPr/>
          </p:nvSpPr>
          <p:spPr>
            <a:xfrm>
              <a:off x="2620800" y="4366800"/>
              <a:ext cx="43199" cy="79199"/>
            </a:xfrm>
            <a:prstGeom prst="rect">
              <a:avLst/>
            </a:prstGeom>
            <a:solidFill>
              <a:srgbClr val="C9A227"/>
            </a:solidFill>
            <a:ln w="635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3" name="(b) rounded box 114"/>
            <p:cNvSpPr/>
            <p:nvPr/>
          </p:nvSpPr>
          <p:spPr>
            <a:xfrm>
              <a:off x="2923199" y="4287600"/>
              <a:ext cx="100800" cy="100799"/>
            </a:xfrm>
            <a:prstGeom prst="roundRect">
              <a:avLst>
                <a:gd name="adj" fmla="val 28571"/>
              </a:avLst>
            </a:prstGeom>
            <a:solidFill>
              <a:srgbClr val="C9A227"/>
            </a:solidFill>
            <a:ln w="635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4" name="(b) rounded box 115"/>
            <p:cNvSpPr/>
            <p:nvPr/>
          </p:nvSpPr>
          <p:spPr>
            <a:xfrm>
              <a:off x="3563999" y="4287600"/>
              <a:ext cx="100800" cy="100799"/>
            </a:xfrm>
            <a:prstGeom prst="roundRect">
              <a:avLst>
                <a:gd name="adj" fmla="val 28571"/>
              </a:avLst>
            </a:prstGeom>
            <a:solidFill>
              <a:srgbClr val="C9A227"/>
            </a:solidFill>
            <a:ln w="635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5" name="(b) box 116"/>
            <p:cNvSpPr/>
            <p:nvPr/>
          </p:nvSpPr>
          <p:spPr>
            <a:xfrm>
              <a:off x="2721599" y="4352400"/>
              <a:ext cx="21600" cy="108000"/>
            </a:xfrm>
            <a:prstGeom prst="rect">
              <a:avLst/>
            </a:prstGeom>
            <a:solidFill>
              <a:srgbClr val="C9A227"/>
            </a:solidFill>
            <a:ln w="635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6" name="(b) box 117"/>
            <p:cNvSpPr/>
            <p:nvPr/>
          </p:nvSpPr>
          <p:spPr>
            <a:xfrm>
              <a:off x="2887199" y="4352400"/>
              <a:ext cx="21600" cy="108000"/>
            </a:xfrm>
            <a:prstGeom prst="rect">
              <a:avLst/>
            </a:prstGeom>
            <a:solidFill>
              <a:srgbClr val="C9A227"/>
            </a:solidFill>
            <a:ln w="635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7" name="(b) box 118"/>
            <p:cNvSpPr/>
            <p:nvPr/>
          </p:nvSpPr>
          <p:spPr>
            <a:xfrm>
              <a:off x="3686400" y="4352400"/>
              <a:ext cx="21599" cy="108000"/>
            </a:xfrm>
            <a:prstGeom prst="rect">
              <a:avLst/>
            </a:prstGeom>
            <a:solidFill>
              <a:srgbClr val="C9A227"/>
            </a:solidFill>
            <a:ln w="635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8" name="(b) box 119"/>
            <p:cNvSpPr/>
            <p:nvPr/>
          </p:nvSpPr>
          <p:spPr>
            <a:xfrm>
              <a:off x="3851999" y="4352400"/>
              <a:ext cx="21600" cy="108000"/>
            </a:xfrm>
            <a:prstGeom prst="rect">
              <a:avLst/>
            </a:prstGeom>
            <a:solidFill>
              <a:srgbClr val="C9A227"/>
            </a:solidFill>
            <a:ln w="635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9" name="(b) polygon 120"/>
            <p:cNvSpPr/>
            <p:nvPr/>
          </p:nvSpPr>
          <p:spPr>
            <a:xfrm>
              <a:off x="4161600" y="4280400"/>
              <a:ext cx="176400" cy="252000"/>
            </a:xfrm>
            <a:custGeom>
              <a:avLst/>
              <a:gdLst/>
              <a:ahLst/>
              <a:cxnLst/>
              <a:rect l="l" t="t" r="r" b="b"/>
              <a:pathLst>
                <a:path w="176400" h="252000">
                  <a:moveTo>
                    <a:pt x="0" y="252000"/>
                  </a:moveTo>
                  <a:lnTo>
                    <a:pt x="0" y="0"/>
                  </a:lnTo>
                  <a:lnTo>
                    <a:pt x="43199" y="0"/>
                  </a:lnTo>
                  <a:lnTo>
                    <a:pt x="50399" y="36000"/>
                  </a:lnTo>
                  <a:lnTo>
                    <a:pt x="68399" y="72000"/>
                  </a:lnTo>
                  <a:lnTo>
                    <a:pt x="97200" y="100799"/>
                  </a:lnTo>
                  <a:lnTo>
                    <a:pt x="133199" y="117000"/>
                  </a:lnTo>
                  <a:lnTo>
                    <a:pt x="176400" y="122400"/>
                  </a:lnTo>
                  <a:lnTo>
                    <a:pt x="176400" y="252000"/>
                  </a:lnTo>
                  <a:close/>
                </a:path>
              </a:pathLst>
            </a:custGeom>
            <a:solidFill>
              <a:srgbClr val="CFCFC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0" name="(b) polygon 121"/>
            <p:cNvSpPr/>
            <p:nvPr/>
          </p:nvSpPr>
          <p:spPr>
            <a:xfrm>
              <a:off x="4338000" y="4543200"/>
              <a:ext cx="36000" cy="46800"/>
            </a:xfrm>
            <a:custGeom>
              <a:avLst/>
              <a:gdLst/>
              <a:ahLst/>
              <a:cxnLst/>
              <a:rect l="l" t="t" r="r" b="b"/>
              <a:pathLst>
                <a:path w="36000" h="46800">
                  <a:moveTo>
                    <a:pt x="0" y="46800"/>
                  </a:moveTo>
                  <a:lnTo>
                    <a:pt x="0" y="0"/>
                  </a:lnTo>
                  <a:lnTo>
                    <a:pt x="36000" y="0"/>
                  </a:lnTo>
                  <a:lnTo>
                    <a:pt x="36000" y="46800"/>
                  </a:lnTo>
                  <a:close/>
                </a:path>
              </a:pathLst>
            </a:custGeom>
            <a:solidFill>
              <a:srgbClr val="CFCFC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1" name="(b) line 122"/>
            <p:cNvSpPr/>
            <p:nvPr/>
          </p:nvSpPr>
          <p:spPr>
            <a:xfrm>
              <a:off x="4161600" y="4280400"/>
              <a:ext cx="176400" cy="252000"/>
            </a:xfrm>
            <a:custGeom>
              <a:avLst/>
              <a:gdLst/>
              <a:ahLst/>
              <a:cxnLst/>
              <a:rect l="l" t="t" r="r" b="b"/>
              <a:pathLst>
                <a:path w="176400" h="252000">
                  <a:moveTo>
                    <a:pt x="0" y="252000"/>
                  </a:moveTo>
                  <a:lnTo>
                    <a:pt x="0" y="0"/>
                  </a:lnTo>
                  <a:lnTo>
                    <a:pt x="43199" y="0"/>
                  </a:lnTo>
                  <a:lnTo>
                    <a:pt x="50399" y="36000"/>
                  </a:lnTo>
                  <a:lnTo>
                    <a:pt x="68399" y="72000"/>
                  </a:lnTo>
                  <a:lnTo>
                    <a:pt x="97200" y="100799"/>
                  </a:lnTo>
                  <a:lnTo>
                    <a:pt x="133199" y="117000"/>
                  </a:lnTo>
                  <a:lnTo>
                    <a:pt x="176400" y="122400"/>
                  </a:lnTo>
                  <a:lnTo>
                    <a:pt x="176400" y="252000"/>
                  </a:lnTo>
                  <a:lnTo>
                    <a:pt x="0" y="252000"/>
                  </a:lnTo>
                </a:path>
              </a:pathLst>
            </a:custGeom>
            <a:noFill/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2" name="(b) line 123"/>
            <p:cNvSpPr/>
            <p:nvPr/>
          </p:nvSpPr>
          <p:spPr>
            <a:xfrm>
              <a:off x="4338000" y="4543200"/>
              <a:ext cx="36000" cy="46800"/>
            </a:xfrm>
            <a:custGeom>
              <a:avLst/>
              <a:gdLst/>
              <a:ahLst/>
              <a:cxnLst/>
              <a:rect l="l" t="t" r="r" b="b"/>
              <a:pathLst>
                <a:path w="36000" h="46800">
                  <a:moveTo>
                    <a:pt x="0" y="46800"/>
                  </a:moveTo>
                  <a:lnTo>
                    <a:pt x="0" y="0"/>
                  </a:lnTo>
                  <a:lnTo>
                    <a:pt x="36000" y="0"/>
                  </a:lnTo>
                  <a:lnTo>
                    <a:pt x="36000" y="46800"/>
                  </a:lnTo>
                </a:path>
              </a:pathLst>
            </a:custGeom>
            <a:noFill/>
            <a:ln w="1270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3" name="(b) line 124"/>
            <p:cNvSpPr/>
            <p:nvPr/>
          </p:nvSpPr>
          <p:spPr>
            <a:xfrm>
              <a:off x="4172399" y="4280400"/>
              <a:ext cx="165601" cy="230400"/>
            </a:xfrm>
            <a:custGeom>
              <a:avLst/>
              <a:gdLst/>
              <a:ahLst/>
              <a:cxnLst/>
              <a:rect l="l" t="t" r="r" b="b"/>
              <a:pathLst>
                <a:path w="165601" h="230400">
                  <a:moveTo>
                    <a:pt x="165601" y="230400"/>
                  </a:moveTo>
                  <a:lnTo>
                    <a:pt x="111601" y="219600"/>
                  </a:lnTo>
                  <a:lnTo>
                    <a:pt x="61201" y="190800"/>
                  </a:lnTo>
                  <a:lnTo>
                    <a:pt x="25200" y="140400"/>
                  </a:lnTo>
                  <a:lnTo>
                    <a:pt x="5400" y="72000"/>
                  </a:lnTo>
                  <a:lnTo>
                    <a:pt x="0" y="0"/>
                  </a:lnTo>
                </a:path>
              </a:pathLst>
            </a:custGeom>
            <a:noFill/>
            <a:ln w="6350">
              <a:solidFill>
                <a:srgbClr val="1A1A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4" name="(b) label “rotor”"/>
            <p:cNvSpPr txBox="1"/>
            <p:nvPr/>
          </p:nvSpPr>
          <p:spPr>
            <a:xfrm>
              <a:off x="3047619" y="4421580"/>
              <a:ext cx="492760" cy="1676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320"/>
                </a:lnSpc>
              </a:pPr>
              <a:r>
                <a:rPr sz="1100" b="0" i="0">
                  <a:solidFill>
                    <a:srgbClr val="000000"/>
                  </a:solidFill>
                  <a:latin typeface="Times New Roman"/>
                </a:rPr>
                <a:t>rotor</a:t>
              </a:r>
            </a:p>
          </p:txBody>
        </p:sp>
        <p:cxnSp>
          <p:nvCxnSpPr>
            <p:cNvPr id="215" name="(b) line 126"/>
            <p:cNvCxnSpPr/>
            <p:nvPr/>
          </p:nvCxnSpPr>
          <p:spPr>
            <a:xfrm>
              <a:off x="2185200" y="4590000"/>
              <a:ext cx="3016799" cy="0"/>
            </a:xfrm>
            <a:prstGeom prst="line">
              <a:avLst/>
            </a:prstGeom>
            <a:ln w="6350" cap="flat">
              <a:solidFill>
                <a:srgbClr val="6E6E6E"/>
              </a:solidFill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(b) leader 127"/>
            <p:cNvCxnSpPr/>
            <p:nvPr/>
          </p:nvCxnSpPr>
          <p:spPr>
            <a:xfrm>
              <a:off x="2683428" y="3759429"/>
              <a:ext cx="129016" cy="580573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7" name="(b) label “radial AMB”"/>
            <p:cNvSpPr txBox="1"/>
            <p:nvPr/>
          </p:nvSpPr>
          <p:spPr>
            <a:xfrm>
              <a:off x="2194099" y="3588180"/>
              <a:ext cx="939800" cy="1676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320"/>
                </a:lnSpc>
              </a:pPr>
              <a:r>
                <a:rPr sz="1100" b="0" i="0">
                  <a:solidFill>
                    <a:srgbClr val="1A1A1A"/>
                  </a:solidFill>
                  <a:latin typeface="Times New Roman"/>
                </a:rPr>
                <a:t>radial AMB</a:t>
              </a:r>
            </a:p>
          </p:txBody>
        </p:sp>
        <p:cxnSp>
          <p:nvCxnSpPr>
            <p:cNvPr id="218" name="(b) leader 129"/>
            <p:cNvCxnSpPr/>
            <p:nvPr/>
          </p:nvCxnSpPr>
          <p:spPr>
            <a:xfrm>
              <a:off x="3293999" y="3759821"/>
              <a:ext cx="0" cy="551079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9" name="(b) label “stator”"/>
            <p:cNvSpPr txBox="1"/>
            <p:nvPr/>
          </p:nvSpPr>
          <p:spPr>
            <a:xfrm>
              <a:off x="3002915" y="3588180"/>
              <a:ext cx="582168" cy="1676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320"/>
                </a:lnSpc>
              </a:pPr>
              <a:r>
                <a:rPr sz="1100" b="0" i="0">
                  <a:solidFill>
                    <a:srgbClr val="1A1A1A"/>
                  </a:solidFill>
                  <a:latin typeface="Times New Roman"/>
                </a:rPr>
                <a:t>stator</a:t>
              </a:r>
            </a:p>
          </p:txBody>
        </p:sp>
        <p:cxnSp>
          <p:nvCxnSpPr>
            <p:cNvPr id="220" name="(b) leader 131"/>
            <p:cNvCxnSpPr/>
            <p:nvPr/>
          </p:nvCxnSpPr>
          <p:spPr>
            <a:xfrm flipH="1">
              <a:off x="3782629" y="3759456"/>
              <a:ext cx="122861" cy="580519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1" name="(b) label “radial AMB”"/>
            <p:cNvSpPr txBox="1"/>
            <p:nvPr/>
          </p:nvSpPr>
          <p:spPr>
            <a:xfrm>
              <a:off x="3454099" y="3588180"/>
              <a:ext cx="939800" cy="1676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320"/>
                </a:lnSpc>
              </a:pPr>
              <a:r>
                <a:rPr sz="1100" b="0" i="0">
                  <a:solidFill>
                    <a:srgbClr val="1A1A1A"/>
                  </a:solidFill>
                  <a:latin typeface="Times New Roman"/>
                </a:rPr>
                <a:t>radial AMB</a:t>
              </a:r>
            </a:p>
          </p:txBody>
        </p:sp>
        <p:cxnSp>
          <p:nvCxnSpPr>
            <p:cNvPr id="222" name="(b) leader 133"/>
            <p:cNvCxnSpPr/>
            <p:nvPr/>
          </p:nvCxnSpPr>
          <p:spPr>
            <a:xfrm>
              <a:off x="1991896" y="4133648"/>
              <a:ext cx="512670" cy="199741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3" name="(b) label “axial AMB”"/>
            <p:cNvSpPr txBox="1"/>
            <p:nvPr/>
          </p:nvSpPr>
          <p:spPr>
            <a:xfrm>
              <a:off x="1111607" y="4038180"/>
              <a:ext cx="850392" cy="1676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r">
                <a:lnSpc>
                  <a:spcPts val="1320"/>
                </a:lnSpc>
              </a:pPr>
              <a:r>
                <a:rPr sz="1100" b="0" i="0">
                  <a:solidFill>
                    <a:srgbClr val="1A1A1A"/>
                  </a:solidFill>
                  <a:latin typeface="Times New Roman"/>
                </a:rPr>
                <a:t>axial AMB</a:t>
              </a:r>
            </a:p>
          </p:txBody>
        </p:sp>
        <p:cxnSp>
          <p:nvCxnSpPr>
            <p:cNvPr id="224" name="(b) leader 135"/>
            <p:cNvCxnSpPr/>
            <p:nvPr/>
          </p:nvCxnSpPr>
          <p:spPr>
            <a:xfrm>
              <a:off x="2007451" y="4482000"/>
              <a:ext cx="377448" cy="0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(b) label “touchdown bearing”"/>
            <p:cNvSpPr txBox="1"/>
            <p:nvPr/>
          </p:nvSpPr>
          <p:spPr>
            <a:xfrm>
              <a:off x="396343" y="4398180"/>
              <a:ext cx="1565656" cy="1676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r">
                <a:lnSpc>
                  <a:spcPts val="1320"/>
                </a:lnSpc>
              </a:pPr>
              <a:r>
                <a:rPr sz="1100" b="0" i="0">
                  <a:solidFill>
                    <a:srgbClr val="1A1A1A"/>
                  </a:solidFill>
                  <a:latin typeface="Times New Roman"/>
                </a:rPr>
                <a:t>touchdown bearing</a:t>
              </a:r>
            </a:p>
          </p:txBody>
        </p:sp>
        <p:cxnSp>
          <p:nvCxnSpPr>
            <p:cNvPr id="226" name="(b) leader 137"/>
            <p:cNvCxnSpPr/>
            <p:nvPr/>
          </p:nvCxnSpPr>
          <p:spPr>
            <a:xfrm flipH="1">
              <a:off x="4281657" y="4245356"/>
              <a:ext cx="420480" cy="139056"/>
            </a:xfrm>
            <a:prstGeom prst="line">
              <a:avLst/>
            </a:prstGeom>
            <a:ln w="6350">
              <a:solidFill>
                <a:srgbClr val="6E6E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7" name="(b) label “impeller, on the”"/>
            <p:cNvSpPr txBox="1"/>
            <p:nvPr/>
          </p:nvSpPr>
          <p:spPr>
            <a:xfrm>
              <a:off x="4445875" y="3932330"/>
              <a:ext cx="1476248" cy="3073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lnSpc>
                  <a:spcPts val="1210"/>
                </a:lnSpc>
              </a:pPr>
              <a:r>
                <a:rPr sz="1100" b="0" i="0">
                  <a:solidFill>
                    <a:srgbClr val="1A1A1A"/>
                  </a:solidFill>
                  <a:latin typeface="Times New Roman"/>
                </a:rPr>
                <a:t>impeller, on the</a:t>
              </a:r>
            </a:p>
            <a:p>
              <a:pPr algn="ctr">
                <a:lnSpc>
                  <a:spcPts val="1210"/>
                </a:lnSpc>
              </a:pPr>
              <a:r>
                <a:rPr sz="1100" b="0" i="0">
                  <a:solidFill>
                    <a:srgbClr val="1A1A1A"/>
                  </a:solidFill>
                  <a:latin typeface="Times New Roman"/>
                </a:rPr>
                <a:t>motor shaft</a:t>
              </a:r>
            </a:p>
          </p:txBody>
        </p:sp>
        <p:sp>
          <p:nvSpPr>
            <p:cNvPr id="228" name="(b) dot 139"/>
            <p:cNvSpPr/>
            <p:nvPr/>
          </p:nvSpPr>
          <p:spPr>
            <a:xfrm>
              <a:off x="2798689" y="4335889"/>
              <a:ext cx="33020" cy="33021"/>
            </a:xfrm>
            <a:prstGeom prst="ellipse">
              <a:avLst/>
            </a:prstGeom>
            <a:solidFill>
              <a:srgbClr val="6E6E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(b) dot 140"/>
            <p:cNvSpPr/>
            <p:nvPr/>
          </p:nvSpPr>
          <p:spPr>
            <a:xfrm>
              <a:off x="3277489" y="4307089"/>
              <a:ext cx="33020" cy="33021"/>
            </a:xfrm>
            <a:prstGeom prst="ellipse">
              <a:avLst/>
            </a:prstGeom>
            <a:solidFill>
              <a:srgbClr val="6E6E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0" name="(b) dot 141"/>
            <p:cNvSpPr/>
            <p:nvPr/>
          </p:nvSpPr>
          <p:spPr>
            <a:xfrm>
              <a:off x="3763489" y="4335889"/>
              <a:ext cx="33020" cy="33021"/>
            </a:xfrm>
            <a:prstGeom prst="ellipse">
              <a:avLst/>
            </a:prstGeom>
            <a:solidFill>
              <a:srgbClr val="6E6E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1" name="(b) dot 142"/>
            <p:cNvSpPr/>
            <p:nvPr/>
          </p:nvSpPr>
          <p:spPr>
            <a:xfrm>
              <a:off x="2499890" y="4321490"/>
              <a:ext cx="33019" cy="33020"/>
            </a:xfrm>
            <a:prstGeom prst="ellipse">
              <a:avLst/>
            </a:prstGeom>
            <a:solidFill>
              <a:srgbClr val="6E6E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2" name="(b) dot 143"/>
            <p:cNvSpPr/>
            <p:nvPr/>
          </p:nvSpPr>
          <p:spPr>
            <a:xfrm>
              <a:off x="2381089" y="4465490"/>
              <a:ext cx="33020" cy="33019"/>
            </a:xfrm>
            <a:prstGeom prst="ellipse">
              <a:avLst/>
            </a:prstGeom>
            <a:solidFill>
              <a:srgbClr val="6E6E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3" name="(b) dot 144"/>
            <p:cNvSpPr/>
            <p:nvPr/>
          </p:nvSpPr>
          <p:spPr>
            <a:xfrm>
              <a:off x="4253090" y="4371889"/>
              <a:ext cx="33019" cy="33021"/>
            </a:xfrm>
            <a:prstGeom prst="ellipse">
              <a:avLst/>
            </a:prstGeom>
            <a:solidFill>
              <a:srgbClr val="6E6E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