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1.2 of Chapter 1, drawn as native PowerPoint shapes — no picture is embedded, so every part, hatch and label can be edited here.</a:t>
            </a:r>
          </a:p>
          <a:p/>
          <a:p>
            <a:r>
              <a:t>Source of truth: chapter1/src/make_schematics.py. Regenerate this file with `python3 src/mpl_to_pptx.py`; the PNG that goes into the manuscript comes from make_schematics.py itself, so edits made here do not travel back.</a:t>
            </a:r>
          </a:p>
          <a:p/>
          <a:p>
            <a:r>
              <a:t>Section hatching is a PowerPoint pattern fill: `///` and `\\\` on adjacent parts, cross-hatch on the housing castings.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" name="Figure 1.2 (a)"/>
          <p:cNvGrpSpPr/>
          <p:nvPr/>
        </p:nvGrpSpPr>
        <p:grpSpPr>
          <a:xfrm>
            <a:off x="1143000" y="1070361"/>
            <a:ext cx="7086600" cy="3227318"/>
            <a:chOff x="1143000" y="1070361"/>
            <a:chExt cx="7086600" cy="3227318"/>
          </a:xfrm>
        </p:grpSpPr>
        <p:sp>
          <p:nvSpPr>
            <p:cNvPr id="4" name="(a) box 01"/>
            <p:cNvSpPr/>
            <p:nvPr/>
          </p:nvSpPr>
          <p:spPr>
            <a:xfrm>
              <a:off x="1143000" y="3342806"/>
              <a:ext cx="7086600" cy="954873"/>
            </a:xfrm>
            <a:prstGeom prst="rect">
              <a:avLst/>
            </a:prstGeom>
            <a:solidFill>
              <a:srgbClr val="F6F6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(a) centre line 02"/>
            <p:cNvCxnSpPr/>
            <p:nvPr/>
          </p:nvCxnSpPr>
          <p:spPr>
            <a:xfrm>
              <a:off x="1355598" y="2605665"/>
              <a:ext cx="2338578" cy="0"/>
            </a:xfrm>
            <a:prstGeom prst="line">
              <a:avLst/>
            </a:prstGeom>
            <a:ln w="13469" cap="flat">
              <a:solidFill>
                <a:srgbClr val="404040"/>
              </a:solidFill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(a) centre line 03"/>
            <p:cNvCxnSpPr/>
            <p:nvPr/>
          </p:nvCxnSpPr>
          <p:spPr>
            <a:xfrm>
              <a:off x="4828032" y="2330220"/>
              <a:ext cx="2692908" cy="0"/>
            </a:xfrm>
            <a:prstGeom prst="line">
              <a:avLst/>
            </a:prstGeom>
            <a:ln w="13469" cap="flat">
              <a:solidFill>
                <a:srgbClr val="404040"/>
              </a:solidFill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(a) centre line 04"/>
            <p:cNvCxnSpPr/>
            <p:nvPr/>
          </p:nvCxnSpPr>
          <p:spPr>
            <a:xfrm flipV="1">
              <a:off x="3949293" y="3248368"/>
              <a:ext cx="0" cy="398738"/>
            </a:xfrm>
            <a:prstGeom prst="line">
              <a:avLst/>
            </a:prstGeom>
            <a:ln w="17318" cap="flat">
              <a:solidFill>
                <a:srgbClr val="A6350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(a) centre line 05"/>
            <p:cNvCxnSpPr/>
            <p:nvPr/>
          </p:nvCxnSpPr>
          <p:spPr>
            <a:xfrm flipV="1">
              <a:off x="4785512" y="3248368"/>
              <a:ext cx="0" cy="398738"/>
            </a:xfrm>
            <a:prstGeom prst="line">
              <a:avLst/>
            </a:prstGeom>
            <a:ln w="17318" cap="flat">
              <a:solidFill>
                <a:srgbClr val="A6350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(a) centre line 06"/>
            <p:cNvCxnSpPr/>
            <p:nvPr/>
          </p:nvCxnSpPr>
          <p:spPr>
            <a:xfrm>
              <a:off x="1143000" y="3342806"/>
              <a:ext cx="7086600" cy="0"/>
            </a:xfrm>
            <a:prstGeom prst="line">
              <a:avLst/>
            </a:prstGeom>
            <a:ln w="19242">
              <a:solidFill>
                <a:srgbClr val="80808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(a) sectioned polygon 07"/>
            <p:cNvSpPr/>
            <p:nvPr/>
          </p:nvSpPr>
          <p:spPr>
            <a:xfrm>
              <a:off x="1582369" y="2154461"/>
              <a:ext cx="1587398" cy="372505"/>
            </a:xfrm>
            <a:custGeom>
              <a:avLst/>
              <a:gdLst/>
              <a:ahLst/>
              <a:cxnLst/>
              <a:rect l="l" t="t" r="r" b="b"/>
              <a:pathLst>
                <a:path w="1587398" h="372505">
                  <a:moveTo>
                    <a:pt x="0" y="372505"/>
                  </a:moveTo>
                  <a:lnTo>
                    <a:pt x="0" y="0"/>
                  </a:lnTo>
                  <a:lnTo>
                    <a:pt x="1587398" y="0"/>
                  </a:lnTo>
                  <a:lnTo>
                    <a:pt x="1587398" y="372505"/>
                  </a:lnTo>
                  <a:lnTo>
                    <a:pt x="1417320" y="372505"/>
                  </a:lnTo>
                  <a:lnTo>
                    <a:pt x="1417320" y="62959"/>
                  </a:lnTo>
                  <a:lnTo>
                    <a:pt x="170078" y="62959"/>
                  </a:lnTo>
                  <a:lnTo>
                    <a:pt x="170078" y="372505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4F4F1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(a) sectioned polygon 08"/>
            <p:cNvSpPr/>
            <p:nvPr/>
          </p:nvSpPr>
          <p:spPr>
            <a:xfrm>
              <a:off x="1582369" y="2684363"/>
              <a:ext cx="1587398" cy="372506"/>
            </a:xfrm>
            <a:custGeom>
              <a:avLst/>
              <a:gdLst/>
              <a:ahLst/>
              <a:cxnLst/>
              <a:rect l="l" t="t" r="r" b="b"/>
              <a:pathLst>
                <a:path w="1587398" h="372506">
                  <a:moveTo>
                    <a:pt x="0" y="0"/>
                  </a:moveTo>
                  <a:lnTo>
                    <a:pt x="0" y="372506"/>
                  </a:lnTo>
                  <a:lnTo>
                    <a:pt x="1587398" y="372506"/>
                  </a:lnTo>
                  <a:lnTo>
                    <a:pt x="1587398" y="0"/>
                  </a:lnTo>
                  <a:lnTo>
                    <a:pt x="1417320" y="0"/>
                  </a:lnTo>
                  <a:lnTo>
                    <a:pt x="1417320" y="309547"/>
                  </a:lnTo>
                  <a:lnTo>
                    <a:pt x="170078" y="309547"/>
                  </a:lnTo>
                  <a:lnTo>
                    <a:pt x="170078" y="0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4F4F1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(a) sectioned polygon 09"/>
            <p:cNvSpPr/>
            <p:nvPr/>
          </p:nvSpPr>
          <p:spPr>
            <a:xfrm>
              <a:off x="5366613" y="1936729"/>
              <a:ext cx="1332281" cy="314793"/>
            </a:xfrm>
            <a:custGeom>
              <a:avLst/>
              <a:gdLst/>
              <a:ahLst/>
              <a:cxnLst/>
              <a:rect l="l" t="t" r="r" b="b"/>
              <a:pathLst>
                <a:path w="1332281" h="314793">
                  <a:moveTo>
                    <a:pt x="0" y="314793"/>
                  </a:moveTo>
                  <a:lnTo>
                    <a:pt x="0" y="0"/>
                  </a:lnTo>
                  <a:lnTo>
                    <a:pt x="1332281" y="0"/>
                  </a:lnTo>
                  <a:lnTo>
                    <a:pt x="1332281" y="314793"/>
                  </a:lnTo>
                  <a:lnTo>
                    <a:pt x="1162203" y="314793"/>
                  </a:lnTo>
                  <a:lnTo>
                    <a:pt x="1162203" y="62958"/>
                  </a:lnTo>
                  <a:lnTo>
                    <a:pt x="170079" y="62958"/>
                  </a:lnTo>
                  <a:lnTo>
                    <a:pt x="170079" y="314793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4F4F1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(a) sectioned polygon 10"/>
            <p:cNvSpPr/>
            <p:nvPr/>
          </p:nvSpPr>
          <p:spPr>
            <a:xfrm>
              <a:off x="5366613" y="2408919"/>
              <a:ext cx="1332281" cy="314793"/>
            </a:xfrm>
            <a:custGeom>
              <a:avLst/>
              <a:gdLst/>
              <a:ahLst/>
              <a:cxnLst/>
              <a:rect l="l" t="t" r="r" b="b"/>
              <a:pathLst>
                <a:path w="1332281" h="314793">
                  <a:moveTo>
                    <a:pt x="0" y="0"/>
                  </a:moveTo>
                  <a:lnTo>
                    <a:pt x="0" y="314793"/>
                  </a:lnTo>
                  <a:lnTo>
                    <a:pt x="1332281" y="314793"/>
                  </a:lnTo>
                  <a:lnTo>
                    <a:pt x="1332281" y="0"/>
                  </a:lnTo>
                  <a:lnTo>
                    <a:pt x="1162203" y="0"/>
                  </a:lnTo>
                  <a:lnTo>
                    <a:pt x="1162203" y="251835"/>
                  </a:lnTo>
                  <a:lnTo>
                    <a:pt x="170079" y="251835"/>
                  </a:lnTo>
                  <a:lnTo>
                    <a:pt x="170079" y="0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4F4F1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(a) box 11"/>
            <p:cNvSpPr/>
            <p:nvPr/>
          </p:nvSpPr>
          <p:spPr>
            <a:xfrm>
              <a:off x="1497330" y="3159177"/>
              <a:ext cx="5988176" cy="89191"/>
            </a:xfrm>
            <a:prstGeom prst="rect">
              <a:avLst/>
            </a:prstGeom>
            <a:solidFill>
              <a:srgbClr val="DEDEDE"/>
            </a:solid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(a) label “(a)   Geared train,  axial s”"/>
            <p:cNvSpPr txBox="1"/>
            <p:nvPr/>
          </p:nvSpPr>
          <p:spPr>
            <a:xfrm>
              <a:off x="1213866" y="1070361"/>
              <a:ext cx="3981642" cy="217054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l">
                <a:lnSpc>
                  <a:spcPts val="1709"/>
                </a:lnSpc>
              </a:pPr>
              <a:r>
                <a:rPr sz="1424" b="1" i="0">
                  <a:solidFill>
                    <a:srgbClr val="1A1A1A"/>
                  </a:solidFill>
                  <a:latin typeface="Times New Roman"/>
                </a:rPr>
                <a:t>(a)   Geared train,  axial section</a:t>
              </a:r>
            </a:p>
          </p:txBody>
        </p:sp>
        <p:sp>
          <p:nvSpPr>
            <p:cNvPr id="16" name="(a) label “machine floor”"/>
            <p:cNvSpPr txBox="1"/>
            <p:nvPr/>
          </p:nvSpPr>
          <p:spPr>
            <a:xfrm>
              <a:off x="1228039" y="3294339"/>
              <a:ext cx="1070340" cy="147781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l">
                <a:lnSpc>
                  <a:spcPts val="1163"/>
                </a:lnSpc>
              </a:pPr>
              <a:r>
                <a:rPr sz="969" b="0" i="1">
                  <a:solidFill>
                    <a:srgbClr val="737373"/>
                  </a:solidFill>
                  <a:latin typeface="Times New Roman"/>
                </a:rPr>
                <a:t>machine floor</a:t>
              </a:r>
            </a:p>
          </p:txBody>
        </p:sp>
        <p:sp>
          <p:nvSpPr>
            <p:cNvPr id="17" name="(a) label “oil feed and return”"/>
            <p:cNvSpPr txBox="1"/>
            <p:nvPr/>
          </p:nvSpPr>
          <p:spPr>
            <a:xfrm>
              <a:off x="5366613" y="3421504"/>
              <a:ext cx="1543242" cy="147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ts val="1163"/>
                </a:lnSpc>
              </a:pPr>
              <a:r>
                <a:rPr sz="969" b="0" i="1">
                  <a:solidFill>
                    <a:srgbClr val="A6350F"/>
                  </a:solidFill>
                  <a:latin typeface="Times New Roman"/>
                </a:rPr>
                <a:t>oil feed and return</a:t>
              </a:r>
            </a:p>
          </p:txBody>
        </p:sp>
        <p:sp>
          <p:nvSpPr>
            <p:cNvPr id="18" name="(a) label “2–5 % gear loss  ·  seals an”"/>
            <p:cNvSpPr txBox="1"/>
            <p:nvPr/>
          </p:nvSpPr>
          <p:spPr>
            <a:xfrm>
              <a:off x="1228039" y="4040317"/>
              <a:ext cx="6588760" cy="159327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l">
                <a:lnSpc>
                  <a:spcPts val="1254"/>
                </a:lnSpc>
              </a:pPr>
              <a:r>
                <a:rPr sz="1045" b="0" i="0">
                  <a:solidFill>
                    <a:srgbClr val="A6350F"/>
                  </a:solidFill>
                  <a:latin typeface="Times New Roman"/>
                </a:rPr>
                <a:t>2–5 % gear loss  ·  seals and oil changes  ·  a second storey below the floor</a:t>
              </a:r>
            </a:p>
          </p:txBody>
        </p:sp>
        <p:sp>
          <p:nvSpPr>
            <p:cNvPr id="19" name="(a) label “the gearbox casing is sealed”"/>
            <p:cNvSpPr txBox="1"/>
            <p:nvPr/>
          </p:nvSpPr>
          <p:spPr>
            <a:xfrm>
              <a:off x="1228039" y="3934419"/>
              <a:ext cx="6666345" cy="147781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l">
                <a:lnSpc>
                  <a:spcPts val="1163"/>
                </a:lnSpc>
              </a:pPr>
              <a:r>
                <a:rPr sz="969" b="0" i="1">
                  <a:solidFill>
                    <a:srgbClr val="737373"/>
                  </a:solidFill>
                  <a:latin typeface="Times New Roman"/>
                </a:rPr>
                <a:t>the gearbox casing is sealed; its input and output shafts leave at different heights</a:t>
              </a:r>
            </a:p>
          </p:txBody>
        </p:sp>
        <p:sp>
          <p:nvSpPr>
            <p:cNvPr id="20" name="(a) polygon 17"/>
            <p:cNvSpPr/>
            <p:nvPr/>
          </p:nvSpPr>
          <p:spPr>
            <a:xfrm>
              <a:off x="3637483" y="1852784"/>
              <a:ext cx="1303934" cy="1232941"/>
            </a:xfrm>
            <a:custGeom>
              <a:avLst/>
              <a:gdLst/>
              <a:ahLst/>
              <a:cxnLst/>
              <a:rect l="l" t="t" r="r" b="b"/>
              <a:pathLst>
                <a:path w="1303934" h="1232941">
                  <a:moveTo>
                    <a:pt x="0" y="1232941"/>
                  </a:moveTo>
                  <a:lnTo>
                    <a:pt x="0" y="0"/>
                  </a:lnTo>
                  <a:lnTo>
                    <a:pt x="1303934" y="0"/>
                  </a:lnTo>
                  <a:lnTo>
                    <a:pt x="1303934" y="1232941"/>
                  </a:lnTo>
                  <a:close/>
                </a:path>
              </a:pathLst>
            </a:custGeom>
            <a:noFill/>
            <a:ln w="2309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(a) sectioned polygon 18"/>
            <p:cNvSpPr/>
            <p:nvPr/>
          </p:nvSpPr>
          <p:spPr>
            <a:xfrm>
              <a:off x="3637483" y="1852784"/>
              <a:ext cx="170078" cy="1232941"/>
            </a:xfrm>
            <a:custGeom>
              <a:avLst/>
              <a:gdLst/>
              <a:ahLst/>
              <a:cxnLst/>
              <a:rect l="l" t="t" r="r" b="b"/>
              <a:pathLst>
                <a:path w="170078" h="1232941">
                  <a:moveTo>
                    <a:pt x="0" y="1232941"/>
                  </a:moveTo>
                  <a:lnTo>
                    <a:pt x="0" y="0"/>
                  </a:lnTo>
                  <a:lnTo>
                    <a:pt x="170078" y="0"/>
                  </a:lnTo>
                  <a:lnTo>
                    <a:pt x="170078" y="1232941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0EFE9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(a) sectioned polygon 19"/>
            <p:cNvSpPr/>
            <p:nvPr/>
          </p:nvSpPr>
          <p:spPr>
            <a:xfrm>
              <a:off x="4771339" y="1852784"/>
              <a:ext cx="170078" cy="1232941"/>
            </a:xfrm>
            <a:custGeom>
              <a:avLst/>
              <a:gdLst/>
              <a:ahLst/>
              <a:cxnLst/>
              <a:rect l="l" t="t" r="r" b="b"/>
              <a:pathLst>
                <a:path w="170078" h="1232941">
                  <a:moveTo>
                    <a:pt x="0" y="1232941"/>
                  </a:moveTo>
                  <a:lnTo>
                    <a:pt x="0" y="0"/>
                  </a:lnTo>
                  <a:lnTo>
                    <a:pt x="170078" y="0"/>
                  </a:lnTo>
                  <a:lnTo>
                    <a:pt x="170078" y="1232941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0EFE9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(a) sectioned polygon 20"/>
            <p:cNvSpPr/>
            <p:nvPr/>
          </p:nvSpPr>
          <p:spPr>
            <a:xfrm>
              <a:off x="3637483" y="1852784"/>
              <a:ext cx="1303934" cy="62958"/>
            </a:xfrm>
            <a:custGeom>
              <a:avLst/>
              <a:gdLst/>
              <a:ahLst/>
              <a:cxnLst/>
              <a:rect l="l" t="t" r="r" b="b"/>
              <a:pathLst>
                <a:path w="1303934" h="62958">
                  <a:moveTo>
                    <a:pt x="0" y="62958"/>
                  </a:moveTo>
                  <a:lnTo>
                    <a:pt x="0" y="0"/>
                  </a:lnTo>
                  <a:lnTo>
                    <a:pt x="1303934" y="0"/>
                  </a:lnTo>
                  <a:lnTo>
                    <a:pt x="1303934" y="62958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0EFE9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(a) sectioned polygon 21"/>
            <p:cNvSpPr/>
            <p:nvPr/>
          </p:nvSpPr>
          <p:spPr>
            <a:xfrm>
              <a:off x="3637483" y="3022766"/>
              <a:ext cx="1303934" cy="62959"/>
            </a:xfrm>
            <a:custGeom>
              <a:avLst/>
              <a:gdLst/>
              <a:ahLst/>
              <a:cxnLst/>
              <a:rect l="l" t="t" r="r" b="b"/>
              <a:pathLst>
                <a:path w="1303934" h="62959">
                  <a:moveTo>
                    <a:pt x="0" y="62959"/>
                  </a:moveTo>
                  <a:lnTo>
                    <a:pt x="0" y="0"/>
                  </a:lnTo>
                  <a:lnTo>
                    <a:pt x="1303934" y="0"/>
                  </a:lnTo>
                  <a:lnTo>
                    <a:pt x="1303934" y="62959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0EFE9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(a) box 22"/>
            <p:cNvSpPr/>
            <p:nvPr/>
          </p:nvSpPr>
          <p:spPr>
            <a:xfrm>
              <a:off x="3552444" y="3647106"/>
              <a:ext cx="1629918" cy="309547"/>
            </a:xfrm>
            <a:prstGeom prst="rect">
              <a:avLst/>
            </a:prstGeom>
            <a:solidFill>
              <a:srgbClr val="F4E6D8"/>
            </a:solid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(a) box 23"/>
            <p:cNvSpPr/>
            <p:nvPr/>
          </p:nvSpPr>
          <p:spPr>
            <a:xfrm>
              <a:off x="1341424" y="2563692"/>
              <a:ext cx="2296059" cy="41973"/>
            </a:xfrm>
            <a:prstGeom prst="rect">
              <a:avLst/>
            </a:prstGeom>
            <a:solidFill>
              <a:srgbClr val="CCCCCC"/>
            </a:solid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(a) box 24"/>
            <p:cNvSpPr/>
            <p:nvPr/>
          </p:nvSpPr>
          <p:spPr>
            <a:xfrm>
              <a:off x="1341424" y="2605665"/>
              <a:ext cx="2296059" cy="41972"/>
            </a:xfrm>
            <a:prstGeom prst="rect">
              <a:avLst/>
            </a:prstGeom>
            <a:solidFill>
              <a:srgbClr val="CCCCCC"/>
            </a:solid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(a) box 25"/>
            <p:cNvSpPr/>
            <p:nvPr/>
          </p:nvSpPr>
          <p:spPr>
            <a:xfrm>
              <a:off x="1936699" y="2406296"/>
              <a:ext cx="850392" cy="131164"/>
            </a:xfrm>
            <a:prstGeom prst="rect">
              <a:avLst/>
            </a:prstGeom>
            <a:solidFill>
              <a:srgbClr val="DBDBDB"/>
            </a:solid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(a) box 26"/>
            <p:cNvSpPr/>
            <p:nvPr/>
          </p:nvSpPr>
          <p:spPr>
            <a:xfrm>
              <a:off x="1936699" y="2673870"/>
              <a:ext cx="850392" cy="131164"/>
            </a:xfrm>
            <a:prstGeom prst="rect">
              <a:avLst/>
            </a:prstGeom>
            <a:solidFill>
              <a:srgbClr val="DBDBDB"/>
            </a:solid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(a) sectioned box 27"/>
            <p:cNvSpPr/>
            <p:nvPr/>
          </p:nvSpPr>
          <p:spPr>
            <a:xfrm>
              <a:off x="1894179" y="2222666"/>
              <a:ext cx="935431" cy="157397"/>
            </a:xfrm>
            <a:prstGeom prst="rect">
              <a:avLst/>
            </a:prstGeom>
            <a:pattFill prst="ltUpDiag">
              <a:fgClr>
                <a:srgbClr val="1A1A1A"/>
              </a:fgClr>
              <a:bgClr>
                <a:srgbClr val="FFFFFF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(a) sectioned box 28"/>
            <p:cNvSpPr/>
            <p:nvPr/>
          </p:nvSpPr>
          <p:spPr>
            <a:xfrm>
              <a:off x="1894179" y="2831267"/>
              <a:ext cx="935431" cy="157396"/>
            </a:xfrm>
            <a:prstGeom prst="rect">
              <a:avLst/>
            </a:prstGeom>
            <a:pattFill prst="ltUpDiag">
              <a:fgClr>
                <a:srgbClr val="1A1A1A"/>
              </a:fgClr>
              <a:bgClr>
                <a:srgbClr val="FFFFFF"/>
              </a:bgClr>
            </a:patt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(a) rounded box 29"/>
            <p:cNvSpPr/>
            <p:nvPr/>
          </p:nvSpPr>
          <p:spPr>
            <a:xfrm>
              <a:off x="1695754" y="2233159"/>
              <a:ext cx="212598" cy="131164"/>
            </a:xfrm>
            <a:prstGeom prst="roundRect">
              <a:avLst>
                <a:gd name="adj" fmla="val 43222"/>
              </a:avLst>
            </a:prstGeom>
            <a:solidFill>
              <a:srgbClr val="C9A227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(a) rounded box 30"/>
            <p:cNvSpPr/>
            <p:nvPr/>
          </p:nvSpPr>
          <p:spPr>
            <a:xfrm>
              <a:off x="1695754" y="2847006"/>
              <a:ext cx="212598" cy="131164"/>
            </a:xfrm>
            <a:prstGeom prst="roundRect">
              <a:avLst>
                <a:gd name="adj" fmla="val 43222"/>
              </a:avLst>
            </a:prstGeom>
            <a:solidFill>
              <a:srgbClr val="C9A227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(a) rounded box 31"/>
            <p:cNvSpPr/>
            <p:nvPr/>
          </p:nvSpPr>
          <p:spPr>
            <a:xfrm>
              <a:off x="2815437" y="2233159"/>
              <a:ext cx="212598" cy="131164"/>
            </a:xfrm>
            <a:prstGeom prst="roundRect">
              <a:avLst>
                <a:gd name="adj" fmla="val 43222"/>
              </a:avLst>
            </a:prstGeom>
            <a:solidFill>
              <a:srgbClr val="C9A227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(a) rounded box 32"/>
            <p:cNvSpPr/>
            <p:nvPr/>
          </p:nvSpPr>
          <p:spPr>
            <a:xfrm>
              <a:off x="2815437" y="2847006"/>
              <a:ext cx="212598" cy="131164"/>
            </a:xfrm>
            <a:prstGeom prst="roundRect">
              <a:avLst>
                <a:gd name="adj" fmla="val 43222"/>
              </a:avLst>
            </a:prstGeom>
            <a:solidFill>
              <a:srgbClr val="C9A227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(a) box 33"/>
            <p:cNvSpPr/>
            <p:nvPr/>
          </p:nvSpPr>
          <p:spPr>
            <a:xfrm>
              <a:off x="4856378" y="2288248"/>
              <a:ext cx="2551176" cy="41972"/>
            </a:xfrm>
            <a:prstGeom prst="rect">
              <a:avLst/>
            </a:prstGeom>
            <a:solidFill>
              <a:srgbClr val="CCCCCC"/>
            </a:solid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(a) box 34"/>
            <p:cNvSpPr/>
            <p:nvPr/>
          </p:nvSpPr>
          <p:spPr>
            <a:xfrm>
              <a:off x="4856378" y="2330220"/>
              <a:ext cx="2551176" cy="41973"/>
            </a:xfrm>
            <a:prstGeom prst="rect">
              <a:avLst/>
            </a:prstGeom>
            <a:solidFill>
              <a:srgbClr val="CCCCCC"/>
            </a:solidFill>
            <a:ln w="21166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(a) sectioned box 35"/>
            <p:cNvSpPr/>
            <p:nvPr/>
          </p:nvSpPr>
          <p:spPr>
            <a:xfrm>
              <a:off x="1766620" y="2474501"/>
              <a:ext cx="141732" cy="78698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(a) sectioned box 36"/>
            <p:cNvSpPr/>
            <p:nvPr/>
          </p:nvSpPr>
          <p:spPr>
            <a:xfrm>
              <a:off x="1766620" y="2658130"/>
              <a:ext cx="141732" cy="78699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(a) sectioned box 37"/>
            <p:cNvSpPr/>
            <p:nvPr/>
          </p:nvSpPr>
          <p:spPr>
            <a:xfrm>
              <a:off x="2843784" y="2474501"/>
              <a:ext cx="141732" cy="78698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(a) sectioned box 38"/>
            <p:cNvSpPr/>
            <p:nvPr/>
          </p:nvSpPr>
          <p:spPr>
            <a:xfrm>
              <a:off x="2843784" y="2658130"/>
              <a:ext cx="141732" cy="78699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(a) box 39"/>
            <p:cNvSpPr/>
            <p:nvPr/>
          </p:nvSpPr>
          <p:spPr>
            <a:xfrm>
              <a:off x="3254806" y="2484994"/>
              <a:ext cx="63780" cy="241342"/>
            </a:xfrm>
            <a:prstGeom prst="rect">
              <a:avLst/>
            </a:prstGeom>
            <a:solidFill>
              <a:srgbClr val="9E9E9E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(a) box 40"/>
            <p:cNvSpPr/>
            <p:nvPr/>
          </p:nvSpPr>
          <p:spPr>
            <a:xfrm>
              <a:off x="3396538" y="2484994"/>
              <a:ext cx="63780" cy="241342"/>
            </a:xfrm>
            <a:prstGeom prst="rect">
              <a:avLst/>
            </a:prstGeom>
            <a:solidFill>
              <a:srgbClr val="9E9E9E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(a) box 41"/>
            <p:cNvSpPr/>
            <p:nvPr/>
          </p:nvSpPr>
          <p:spPr>
            <a:xfrm>
              <a:off x="4983937" y="2209550"/>
              <a:ext cx="63779" cy="241341"/>
            </a:xfrm>
            <a:prstGeom prst="rect">
              <a:avLst/>
            </a:prstGeom>
            <a:solidFill>
              <a:srgbClr val="9E9E9E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(a) box 42"/>
            <p:cNvSpPr/>
            <p:nvPr/>
          </p:nvSpPr>
          <p:spPr>
            <a:xfrm>
              <a:off x="5125669" y="2209550"/>
              <a:ext cx="63779" cy="241341"/>
            </a:xfrm>
            <a:prstGeom prst="rect">
              <a:avLst/>
            </a:prstGeom>
            <a:solidFill>
              <a:srgbClr val="9E9E9E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(a) sectioned box 43"/>
            <p:cNvSpPr/>
            <p:nvPr/>
          </p:nvSpPr>
          <p:spPr>
            <a:xfrm>
              <a:off x="5565038" y="2199057"/>
              <a:ext cx="141732" cy="78698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(a) sectioned box 44"/>
            <p:cNvSpPr/>
            <p:nvPr/>
          </p:nvSpPr>
          <p:spPr>
            <a:xfrm>
              <a:off x="5565038" y="2382686"/>
              <a:ext cx="141732" cy="78698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(a) sectioned box 45"/>
            <p:cNvSpPr/>
            <p:nvPr/>
          </p:nvSpPr>
          <p:spPr>
            <a:xfrm>
              <a:off x="6358737" y="2199057"/>
              <a:ext cx="141732" cy="78698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(a) sectioned box 46"/>
            <p:cNvSpPr/>
            <p:nvPr/>
          </p:nvSpPr>
          <p:spPr>
            <a:xfrm>
              <a:off x="6358737" y="2382686"/>
              <a:ext cx="141732" cy="78698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(a) polygon 47"/>
            <p:cNvSpPr/>
            <p:nvPr/>
          </p:nvSpPr>
          <p:spPr>
            <a:xfrm>
              <a:off x="6968185" y="1983948"/>
              <a:ext cx="552755" cy="314793"/>
            </a:xfrm>
            <a:custGeom>
              <a:avLst/>
              <a:gdLst/>
              <a:ahLst/>
              <a:cxnLst/>
              <a:rect l="l" t="t" r="r" b="b"/>
              <a:pathLst>
                <a:path w="552755" h="314793">
                  <a:moveTo>
                    <a:pt x="0" y="304300"/>
                  </a:moveTo>
                  <a:lnTo>
                    <a:pt x="439369" y="0"/>
                  </a:lnTo>
                  <a:lnTo>
                    <a:pt x="552755" y="62958"/>
                  </a:lnTo>
                  <a:lnTo>
                    <a:pt x="141732" y="314793"/>
                  </a:lnTo>
                  <a:close/>
                </a:path>
              </a:pathLst>
            </a:custGeom>
            <a:solidFill>
              <a:srgbClr val="1F4E79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(a) polygon 48"/>
            <p:cNvSpPr/>
            <p:nvPr/>
          </p:nvSpPr>
          <p:spPr>
            <a:xfrm>
              <a:off x="6954012" y="2146591"/>
              <a:ext cx="453542" cy="165267"/>
            </a:xfrm>
            <a:custGeom>
              <a:avLst/>
              <a:gdLst/>
              <a:ahLst/>
              <a:cxnLst/>
              <a:rect l="l" t="t" r="r" b="b"/>
              <a:pathLst>
                <a:path w="453542" h="165267">
                  <a:moveTo>
                    <a:pt x="0" y="157397"/>
                  </a:moveTo>
                  <a:lnTo>
                    <a:pt x="340156" y="0"/>
                  </a:lnTo>
                  <a:lnTo>
                    <a:pt x="453542" y="62959"/>
                  </a:lnTo>
                  <a:lnTo>
                    <a:pt x="99212" y="165267"/>
                  </a:lnTo>
                  <a:close/>
                </a:path>
              </a:pathLst>
            </a:custGeom>
            <a:solidFill>
              <a:srgbClr val="1F4E79">
                <a:alpha val="75000"/>
              </a:srgbClr>
            </a:solidFill>
            <a:ln w="15393">
              <a:solidFill>
                <a:srgbClr val="1A1A1A">
                  <a:alpha val="75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(a) polygon 49"/>
            <p:cNvSpPr/>
            <p:nvPr/>
          </p:nvSpPr>
          <p:spPr>
            <a:xfrm>
              <a:off x="6968185" y="2361700"/>
              <a:ext cx="552755" cy="314793"/>
            </a:xfrm>
            <a:custGeom>
              <a:avLst/>
              <a:gdLst/>
              <a:ahLst/>
              <a:cxnLst/>
              <a:rect l="l" t="t" r="r" b="b"/>
              <a:pathLst>
                <a:path w="552755" h="314793">
                  <a:moveTo>
                    <a:pt x="0" y="10493"/>
                  </a:moveTo>
                  <a:lnTo>
                    <a:pt x="439369" y="314793"/>
                  </a:lnTo>
                  <a:lnTo>
                    <a:pt x="552755" y="251835"/>
                  </a:lnTo>
                  <a:lnTo>
                    <a:pt x="141732" y="0"/>
                  </a:lnTo>
                  <a:close/>
                </a:path>
              </a:pathLst>
            </a:custGeom>
            <a:solidFill>
              <a:srgbClr val="1F4E79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(a) polygon 50"/>
            <p:cNvSpPr/>
            <p:nvPr/>
          </p:nvSpPr>
          <p:spPr>
            <a:xfrm>
              <a:off x="6954012" y="2348583"/>
              <a:ext cx="453542" cy="165267"/>
            </a:xfrm>
            <a:custGeom>
              <a:avLst/>
              <a:gdLst/>
              <a:ahLst/>
              <a:cxnLst/>
              <a:rect l="l" t="t" r="r" b="b"/>
              <a:pathLst>
                <a:path w="453542" h="165267">
                  <a:moveTo>
                    <a:pt x="0" y="7870"/>
                  </a:moveTo>
                  <a:lnTo>
                    <a:pt x="340156" y="165267"/>
                  </a:lnTo>
                  <a:lnTo>
                    <a:pt x="453542" y="102308"/>
                  </a:lnTo>
                  <a:lnTo>
                    <a:pt x="99212" y="0"/>
                  </a:lnTo>
                  <a:close/>
                </a:path>
              </a:pathLst>
            </a:custGeom>
            <a:solidFill>
              <a:srgbClr val="1F4E79">
                <a:alpha val="75000"/>
              </a:srgbClr>
            </a:solidFill>
            <a:ln w="15393">
              <a:solidFill>
                <a:srgbClr val="1A1A1A">
                  <a:alpha val="75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(a) label “common baseplate”"/>
            <p:cNvSpPr txBox="1"/>
            <p:nvPr/>
          </p:nvSpPr>
          <p:spPr>
            <a:xfrm>
              <a:off x="3840010" y="3132191"/>
              <a:ext cx="1267383" cy="14316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127"/>
                </a:lnSpc>
              </a:pPr>
              <a:r>
                <a:rPr sz="939" b="0" i="1">
                  <a:solidFill>
                    <a:srgbClr val="4C4C4C"/>
                  </a:solidFill>
                  <a:latin typeface="Times New Roman"/>
                </a:rPr>
                <a:t>common baseplate</a:t>
              </a:r>
            </a:p>
          </p:txBody>
        </p:sp>
        <p:sp>
          <p:nvSpPr>
            <p:cNvPr id="55" name="(a) label “lubrication skid”"/>
            <p:cNvSpPr txBox="1"/>
            <p:nvPr/>
          </p:nvSpPr>
          <p:spPr>
            <a:xfrm>
              <a:off x="3664747" y="3625839"/>
              <a:ext cx="1405312" cy="159327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254"/>
                </a:lnSpc>
              </a:pPr>
              <a:r>
                <a:rPr sz="1045" b="1" i="0">
                  <a:solidFill>
                    <a:srgbClr val="000000"/>
                  </a:solidFill>
                  <a:latin typeface="Times New Roman"/>
                </a:rPr>
                <a:t>lubrication skid</a:t>
              </a:r>
            </a:p>
          </p:txBody>
        </p:sp>
        <p:sp>
          <p:nvSpPr>
            <p:cNvPr id="56" name="(a) label “tank  ·  pump  ·  cooler”"/>
            <p:cNvSpPr txBox="1"/>
            <p:nvPr/>
          </p:nvSpPr>
          <p:spPr>
            <a:xfrm>
              <a:off x="3443074" y="3756503"/>
              <a:ext cx="1848658" cy="140854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09"/>
                </a:lnSpc>
              </a:pPr>
              <a:r>
                <a:rPr sz="924" b="0" i="0">
                  <a:solidFill>
                    <a:srgbClr val="595959"/>
                  </a:solidFill>
                  <a:latin typeface="Times New Roman"/>
                </a:rPr>
                <a:t>tank  ·  pump  ·  cooler</a:t>
              </a:r>
            </a:p>
          </p:txBody>
        </p:sp>
        <p:sp>
          <p:nvSpPr>
            <p:cNvPr id="57" name="(a) label “motor”"/>
            <p:cNvSpPr txBox="1"/>
            <p:nvPr/>
          </p:nvSpPr>
          <p:spPr>
            <a:xfrm>
              <a:off x="2119221" y="1382718"/>
              <a:ext cx="513695" cy="175490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381"/>
                </a:lnSpc>
              </a:pPr>
              <a:r>
                <a:rPr sz="1151" b="1" i="0">
                  <a:solidFill>
                    <a:srgbClr val="000000"/>
                  </a:solidFill>
                  <a:latin typeface="Times New Roman"/>
                </a:rPr>
                <a:t>motor</a:t>
              </a:r>
            </a:p>
          </p:txBody>
        </p:sp>
        <p:sp>
          <p:nvSpPr>
            <p:cNvPr id="58" name="(a) label “1500 r/min”"/>
            <p:cNvSpPr txBox="1"/>
            <p:nvPr/>
          </p:nvSpPr>
          <p:spPr>
            <a:xfrm>
              <a:off x="1959124" y="1510509"/>
              <a:ext cx="833889" cy="147781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63"/>
                </a:lnSpc>
              </a:pPr>
              <a:r>
                <a:rPr sz="969" b="0" i="0">
                  <a:solidFill>
                    <a:srgbClr val="4C4C4C"/>
                  </a:solidFill>
                  <a:latin typeface="Times New Roman"/>
                </a:rPr>
                <a:t>1500 r/min</a:t>
              </a:r>
            </a:p>
          </p:txBody>
        </p:sp>
        <p:sp>
          <p:nvSpPr>
            <p:cNvPr id="59" name="(a) label “gearbox”"/>
            <p:cNvSpPr txBox="1"/>
            <p:nvPr/>
          </p:nvSpPr>
          <p:spPr>
            <a:xfrm>
              <a:off x="3939007" y="1382718"/>
              <a:ext cx="700886" cy="175490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381"/>
                </a:lnSpc>
              </a:pPr>
              <a:r>
                <a:rPr sz="1151" b="1" i="0">
                  <a:solidFill>
                    <a:srgbClr val="000000"/>
                  </a:solidFill>
                  <a:latin typeface="Times New Roman"/>
                </a:rPr>
                <a:t>gearbox</a:t>
              </a:r>
            </a:p>
          </p:txBody>
        </p:sp>
        <p:sp>
          <p:nvSpPr>
            <p:cNvPr id="60" name="(a) label “step-up  × 20”"/>
            <p:cNvSpPr txBox="1"/>
            <p:nvPr/>
          </p:nvSpPr>
          <p:spPr>
            <a:xfrm>
              <a:off x="3754280" y="1510509"/>
              <a:ext cx="1070340" cy="147781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63"/>
                </a:lnSpc>
              </a:pPr>
              <a:r>
                <a:rPr sz="969" b="0" i="0">
                  <a:solidFill>
                    <a:srgbClr val="4C4C4C"/>
                  </a:solidFill>
                  <a:latin typeface="Times New Roman"/>
                </a:rPr>
                <a:t>step-up  × 20</a:t>
              </a:r>
            </a:p>
          </p:txBody>
        </p:sp>
        <p:sp>
          <p:nvSpPr>
            <p:cNvPr id="61" name="(a) label “sealed”"/>
            <p:cNvSpPr txBox="1"/>
            <p:nvPr/>
          </p:nvSpPr>
          <p:spPr>
            <a:xfrm>
              <a:off x="4037529" y="2256198"/>
              <a:ext cx="503843" cy="35790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409"/>
                </a:lnSpc>
              </a:pPr>
              <a:r>
                <a:rPr sz="939" b="0" i="1">
                  <a:solidFill>
                    <a:srgbClr val="808080"/>
                  </a:solidFill>
                  <a:latin typeface="Times New Roman"/>
                </a:rPr>
                <a:t>sealed</a:t>
              </a:r>
            </a:p>
            <a:p>
              <a:pPr algn="ctr">
                <a:lnSpc>
                  <a:spcPts val="1409"/>
                </a:lnSpc>
              </a:pPr>
              <a:r>
                <a:rPr sz="939" b="0" i="1">
                  <a:solidFill>
                    <a:srgbClr val="808080"/>
                  </a:solidFill>
                  <a:latin typeface="Times New Roman"/>
                </a:rPr>
                <a:t>casing</a:t>
              </a:r>
            </a:p>
          </p:txBody>
        </p:sp>
        <p:sp>
          <p:nvSpPr>
            <p:cNvPr id="62" name="(a) label “compressor”"/>
            <p:cNvSpPr txBox="1"/>
            <p:nvPr/>
          </p:nvSpPr>
          <p:spPr>
            <a:xfrm>
              <a:off x="5541918" y="1382718"/>
              <a:ext cx="981671" cy="175490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381"/>
                </a:lnSpc>
              </a:pPr>
              <a:r>
                <a:rPr sz="1151" b="1" i="0">
                  <a:solidFill>
                    <a:srgbClr val="000000"/>
                  </a:solidFill>
                  <a:latin typeface="Times New Roman"/>
                </a:rPr>
                <a:t>compressor</a:t>
              </a:r>
            </a:p>
          </p:txBody>
        </p:sp>
        <p:sp>
          <p:nvSpPr>
            <p:cNvPr id="63" name="(a) label “30 000 r/min”"/>
            <p:cNvSpPr txBox="1"/>
            <p:nvPr/>
          </p:nvSpPr>
          <p:spPr>
            <a:xfrm>
              <a:off x="5536992" y="1510509"/>
              <a:ext cx="991523" cy="147781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63"/>
                </a:lnSpc>
              </a:pPr>
              <a:r>
                <a:rPr sz="969" b="0" i="0">
                  <a:solidFill>
                    <a:srgbClr val="4C4C4C"/>
                  </a:solidFill>
                  <a:latin typeface="Times New Roman"/>
                </a:rPr>
                <a:t>30 000 r/min</a:t>
              </a:r>
            </a:p>
          </p:txBody>
        </p:sp>
        <p:cxnSp>
          <p:nvCxnSpPr>
            <p:cNvPr id="64" name="(a) leader 61"/>
            <p:cNvCxnSpPr/>
            <p:nvPr/>
          </p:nvCxnSpPr>
          <p:spPr>
            <a:xfrm>
              <a:off x="3354019" y="1987656"/>
              <a:ext cx="0" cy="458853"/>
            </a:xfrm>
            <a:prstGeom prst="line">
              <a:avLst/>
            </a:prstGeom>
            <a:ln w="11545">
              <a:solidFill>
                <a:srgbClr val="80808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(a) label “coupling”"/>
            <p:cNvSpPr txBox="1"/>
            <p:nvPr/>
          </p:nvSpPr>
          <p:spPr>
            <a:xfrm>
              <a:off x="3025744" y="1829112"/>
              <a:ext cx="656551" cy="143163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27"/>
                </a:lnSpc>
              </a:pPr>
              <a:r>
                <a:rPr sz="939" b="0" i="0">
                  <a:solidFill>
                    <a:srgbClr val="474747"/>
                  </a:solidFill>
                  <a:latin typeface="Times New Roman"/>
                </a:rPr>
                <a:t>coupling</a:t>
              </a:r>
            </a:p>
          </p:txBody>
        </p:sp>
        <p:cxnSp>
          <p:nvCxnSpPr>
            <p:cNvPr id="66" name="(a) leader 63"/>
            <p:cNvCxnSpPr/>
            <p:nvPr/>
          </p:nvCxnSpPr>
          <p:spPr>
            <a:xfrm flipH="1">
              <a:off x="5086069" y="1877189"/>
              <a:ext cx="22372" cy="293987"/>
            </a:xfrm>
            <a:prstGeom prst="line">
              <a:avLst/>
            </a:prstGeom>
            <a:ln w="11545">
              <a:solidFill>
                <a:srgbClr val="80808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(a) label “coupling”"/>
            <p:cNvSpPr txBox="1"/>
            <p:nvPr/>
          </p:nvSpPr>
          <p:spPr>
            <a:xfrm>
              <a:off x="4783221" y="1718934"/>
              <a:ext cx="656551" cy="143163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27"/>
                </a:lnSpc>
              </a:pPr>
              <a:r>
                <a:rPr sz="939" b="0" i="0">
                  <a:solidFill>
                    <a:srgbClr val="474747"/>
                  </a:solidFill>
                  <a:latin typeface="Times New Roman"/>
                </a:rPr>
                <a:t>coupling</a:t>
              </a:r>
            </a:p>
          </p:txBody>
        </p:sp>
        <p:cxnSp>
          <p:nvCxnSpPr>
            <p:cNvPr id="68" name="(a) leader 65"/>
            <p:cNvCxnSpPr/>
            <p:nvPr/>
          </p:nvCxnSpPr>
          <p:spPr>
            <a:xfrm flipH="1">
              <a:off x="1841600" y="1986867"/>
              <a:ext cx="48316" cy="449370"/>
            </a:xfrm>
            <a:prstGeom prst="line">
              <a:avLst/>
            </a:prstGeom>
            <a:ln w="11545">
              <a:solidFill>
                <a:srgbClr val="80808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(a) label “rolling bearings”"/>
            <p:cNvSpPr txBox="1"/>
            <p:nvPr/>
          </p:nvSpPr>
          <p:spPr>
            <a:xfrm>
              <a:off x="1260488" y="1829112"/>
              <a:ext cx="1267383" cy="143163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27"/>
                </a:lnSpc>
              </a:pPr>
              <a:r>
                <a:rPr sz="939" b="0" i="0">
                  <a:solidFill>
                    <a:srgbClr val="474747"/>
                  </a:solidFill>
                  <a:latin typeface="Times New Roman"/>
                </a:rPr>
                <a:t>rolling bearings</a:t>
              </a:r>
            </a:p>
          </p:txBody>
        </p:sp>
      </p:grpSp>
      <p:grpSp>
        <p:nvGrpSpPr>
          <p:cNvPr id="70" name="Figure 1.2 (b)"/>
          <p:cNvGrpSpPr/>
          <p:nvPr/>
        </p:nvGrpSpPr>
        <p:grpSpPr>
          <a:xfrm>
            <a:off x="1094752" y="4900865"/>
            <a:ext cx="6975532" cy="3146496"/>
            <a:chOff x="1094752" y="4900865"/>
            <a:chExt cx="6975532" cy="3146496"/>
          </a:xfrm>
        </p:grpSpPr>
        <p:cxnSp>
          <p:nvCxnSpPr>
            <p:cNvPr id="71" name="(b) centre line 01"/>
            <p:cNvCxnSpPr/>
            <p:nvPr/>
          </p:nvCxnSpPr>
          <p:spPr>
            <a:xfrm>
              <a:off x="1532763" y="6426318"/>
              <a:ext cx="6023610" cy="0"/>
            </a:xfrm>
            <a:prstGeom prst="line">
              <a:avLst/>
            </a:prstGeom>
            <a:ln w="13469" cap="flat">
              <a:solidFill>
                <a:srgbClr val="404040"/>
              </a:solidFill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(b) centre line 02"/>
            <p:cNvCxnSpPr/>
            <p:nvPr/>
          </p:nvCxnSpPr>
          <p:spPr>
            <a:xfrm>
              <a:off x="1816227" y="6426318"/>
              <a:ext cx="5435422" cy="0"/>
            </a:xfrm>
            <a:prstGeom prst="line">
              <a:avLst/>
            </a:prstGeom>
            <a:ln w="13469" cap="flat">
              <a:solidFill>
                <a:srgbClr val="404040"/>
              </a:solidFill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(b) sectioned polygon 03"/>
            <p:cNvSpPr/>
            <p:nvPr/>
          </p:nvSpPr>
          <p:spPr>
            <a:xfrm>
              <a:off x="2050084" y="5514576"/>
              <a:ext cx="4351173" cy="785214"/>
            </a:xfrm>
            <a:custGeom>
              <a:avLst/>
              <a:gdLst/>
              <a:ahLst/>
              <a:cxnLst/>
              <a:rect l="l" t="t" r="r" b="b"/>
              <a:pathLst>
                <a:path w="4351173" h="785214">
                  <a:moveTo>
                    <a:pt x="0" y="785214"/>
                  </a:moveTo>
                  <a:lnTo>
                    <a:pt x="0" y="0"/>
                  </a:lnTo>
                  <a:lnTo>
                    <a:pt x="4351173" y="0"/>
                  </a:lnTo>
                  <a:lnTo>
                    <a:pt x="4351173" y="785214"/>
                  </a:lnTo>
                  <a:lnTo>
                    <a:pt x="4166921" y="785214"/>
                  </a:lnTo>
                  <a:lnTo>
                    <a:pt x="4166921" y="96756"/>
                  </a:lnTo>
                  <a:lnTo>
                    <a:pt x="184252" y="96756"/>
                  </a:lnTo>
                  <a:lnTo>
                    <a:pt x="184252" y="785214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4F4F1"/>
              </a:bgClr>
            </a:patt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(b) sectioned polygon 04"/>
            <p:cNvSpPr/>
            <p:nvPr/>
          </p:nvSpPr>
          <p:spPr>
            <a:xfrm>
              <a:off x="2050084" y="6552845"/>
              <a:ext cx="4351173" cy="785215"/>
            </a:xfrm>
            <a:custGeom>
              <a:avLst/>
              <a:gdLst/>
              <a:ahLst/>
              <a:cxnLst/>
              <a:rect l="l" t="t" r="r" b="b"/>
              <a:pathLst>
                <a:path w="4351173" h="785215">
                  <a:moveTo>
                    <a:pt x="0" y="0"/>
                  </a:moveTo>
                  <a:lnTo>
                    <a:pt x="0" y="785215"/>
                  </a:lnTo>
                  <a:lnTo>
                    <a:pt x="4351173" y="785215"/>
                  </a:lnTo>
                  <a:lnTo>
                    <a:pt x="4351173" y="0"/>
                  </a:lnTo>
                  <a:lnTo>
                    <a:pt x="4166921" y="0"/>
                  </a:lnTo>
                  <a:lnTo>
                    <a:pt x="4166921" y="688458"/>
                  </a:lnTo>
                  <a:lnTo>
                    <a:pt x="184252" y="688458"/>
                  </a:lnTo>
                  <a:lnTo>
                    <a:pt x="184252" y="0"/>
                  </a:lnTo>
                  <a:close/>
                </a:path>
              </a:pathLst>
            </a:custGeom>
            <a:pattFill prst="diagCross">
              <a:fgClr>
                <a:srgbClr val="1A1A1A"/>
              </a:fgClr>
              <a:bgClr>
                <a:srgbClr val="F4F4F1"/>
              </a:bgClr>
            </a:patt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(b) label “(b)   Integrated direct driv”"/>
            <p:cNvSpPr txBox="1"/>
            <p:nvPr/>
          </p:nvSpPr>
          <p:spPr>
            <a:xfrm>
              <a:off x="1213866" y="4952203"/>
              <a:ext cx="5255029" cy="217054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l">
                <a:lnSpc>
                  <a:spcPts val="1709"/>
                </a:lnSpc>
              </a:pPr>
              <a:r>
                <a:rPr sz="1424" b="1" i="0">
                  <a:solidFill>
                    <a:srgbClr val="1A1A1A"/>
                  </a:solidFill>
                  <a:latin typeface="Times New Roman"/>
                </a:rPr>
                <a:t>(b)   Integrated direct drive,  axial section</a:t>
              </a:r>
            </a:p>
          </p:txBody>
        </p:sp>
        <p:cxnSp>
          <p:nvCxnSpPr>
            <p:cNvPr id="76" name="(b) leader 06"/>
            <p:cNvCxnSpPr/>
            <p:nvPr/>
          </p:nvCxnSpPr>
          <p:spPr>
            <a:xfrm flipH="1">
              <a:off x="2088569" y="7766020"/>
              <a:ext cx="5375678" cy="0"/>
            </a:xfrm>
            <a:prstGeom prst="line">
              <a:avLst/>
            </a:prstGeom>
            <a:ln w="15393">
              <a:solidFill>
                <a:srgbClr val="666666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(b) label “one machine: no gearbox, no ”"/>
            <p:cNvSpPr txBox="1"/>
            <p:nvPr/>
          </p:nvSpPr>
          <p:spPr>
            <a:xfrm>
              <a:off x="2492949" y="7885725"/>
              <a:ext cx="4528435" cy="161636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272"/>
                </a:lnSpc>
              </a:pPr>
              <a:r>
                <a:rPr sz="1060" b="1" i="0">
                  <a:solidFill>
                    <a:srgbClr val="4A7C1F"/>
                  </a:solidFill>
                  <a:latin typeface="Times New Roman"/>
                </a:rPr>
                <a:t>one machine: no gearbox, no couplings, no oil system</a:t>
              </a:r>
            </a:p>
          </p:txBody>
        </p:sp>
        <p:sp>
          <p:nvSpPr>
            <p:cNvPr id="78" name="(b) box 08"/>
            <p:cNvSpPr/>
            <p:nvPr/>
          </p:nvSpPr>
          <p:spPr>
            <a:xfrm>
              <a:off x="3396538" y="5611332"/>
              <a:ext cx="1757477" cy="85592"/>
            </a:xfrm>
            <a:prstGeom prst="rect">
              <a:avLst/>
            </a:prstGeom>
            <a:solidFill>
              <a:srgbClr val="D7E4F0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(b) box 09"/>
            <p:cNvSpPr/>
            <p:nvPr/>
          </p:nvSpPr>
          <p:spPr>
            <a:xfrm>
              <a:off x="3396538" y="7155711"/>
              <a:ext cx="1757477" cy="85592"/>
            </a:xfrm>
            <a:prstGeom prst="rect">
              <a:avLst/>
            </a:prstGeom>
            <a:solidFill>
              <a:srgbClr val="D7E4F0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(b) box 10"/>
            <p:cNvSpPr/>
            <p:nvPr/>
          </p:nvSpPr>
          <p:spPr>
            <a:xfrm>
              <a:off x="1816227" y="6314676"/>
              <a:ext cx="5435422" cy="111642"/>
            </a:xfrm>
            <a:prstGeom prst="rect">
              <a:avLst/>
            </a:prstGeom>
            <a:solidFill>
              <a:srgbClr val="CCCCCC"/>
            </a:solid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(b) box 11"/>
            <p:cNvSpPr/>
            <p:nvPr/>
          </p:nvSpPr>
          <p:spPr>
            <a:xfrm>
              <a:off x="3524097" y="6009521"/>
              <a:ext cx="1502359" cy="305155"/>
            </a:xfrm>
            <a:prstGeom prst="rect">
              <a:avLst/>
            </a:prstGeom>
            <a:solidFill>
              <a:srgbClr val="A8A8A8"/>
            </a:solid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(b) sectioned box 12"/>
            <p:cNvSpPr/>
            <p:nvPr/>
          </p:nvSpPr>
          <p:spPr>
            <a:xfrm>
              <a:off x="3481578" y="5696924"/>
              <a:ext cx="1587398" cy="267941"/>
            </a:xfrm>
            <a:prstGeom prst="rect">
              <a:avLst/>
            </a:prstGeom>
            <a:pattFill prst="ltUpDiag">
              <a:fgClr>
                <a:srgbClr val="1A1A1A"/>
              </a:fgClr>
              <a:bgClr>
                <a:srgbClr val="FFFFFF"/>
              </a:bgClr>
            </a:patt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(b) rounded box 13"/>
            <p:cNvSpPr/>
            <p:nvPr/>
          </p:nvSpPr>
          <p:spPr>
            <a:xfrm>
              <a:off x="3254806" y="5726695"/>
              <a:ext cx="240945" cy="208398"/>
            </a:xfrm>
            <a:prstGeom prst="roundRect">
              <a:avLst>
                <a:gd name="adj" fmla="val 34005"/>
              </a:avLst>
            </a:prstGeom>
            <a:solidFill>
              <a:srgbClr val="C9A227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(b) rounded box 14"/>
            <p:cNvSpPr/>
            <p:nvPr/>
          </p:nvSpPr>
          <p:spPr>
            <a:xfrm>
              <a:off x="5054803" y="5726695"/>
              <a:ext cx="240944" cy="208398"/>
            </a:xfrm>
            <a:prstGeom prst="roundRect">
              <a:avLst>
                <a:gd name="adj" fmla="val 34005"/>
              </a:avLst>
            </a:prstGeom>
            <a:solidFill>
              <a:srgbClr val="C9A227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(b) box 15"/>
            <p:cNvSpPr/>
            <p:nvPr/>
          </p:nvSpPr>
          <p:spPr>
            <a:xfrm>
              <a:off x="1816227" y="6426318"/>
              <a:ext cx="5435422" cy="111641"/>
            </a:xfrm>
            <a:prstGeom prst="rect">
              <a:avLst/>
            </a:prstGeom>
            <a:solidFill>
              <a:srgbClr val="CCCCCC"/>
            </a:solid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(b) box 16"/>
            <p:cNvSpPr/>
            <p:nvPr/>
          </p:nvSpPr>
          <p:spPr>
            <a:xfrm>
              <a:off x="3524097" y="6537959"/>
              <a:ext cx="1502359" cy="305155"/>
            </a:xfrm>
            <a:prstGeom prst="rect">
              <a:avLst/>
            </a:prstGeom>
            <a:solidFill>
              <a:srgbClr val="A8A8A8"/>
            </a:solid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(b) sectioned box 17"/>
            <p:cNvSpPr/>
            <p:nvPr/>
          </p:nvSpPr>
          <p:spPr>
            <a:xfrm>
              <a:off x="3481578" y="6887771"/>
              <a:ext cx="1587398" cy="267940"/>
            </a:xfrm>
            <a:prstGeom prst="rect">
              <a:avLst/>
            </a:prstGeom>
            <a:pattFill prst="ltUpDiag">
              <a:fgClr>
                <a:srgbClr val="1A1A1A"/>
              </a:fgClr>
              <a:bgClr>
                <a:srgbClr val="FFFFFF"/>
              </a:bgClr>
            </a:patt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(b) rounded box 18"/>
            <p:cNvSpPr/>
            <p:nvPr/>
          </p:nvSpPr>
          <p:spPr>
            <a:xfrm>
              <a:off x="3254806" y="6917542"/>
              <a:ext cx="240945" cy="208398"/>
            </a:xfrm>
            <a:prstGeom prst="roundRect">
              <a:avLst>
                <a:gd name="adj" fmla="val 34005"/>
              </a:avLst>
            </a:prstGeom>
            <a:solidFill>
              <a:srgbClr val="C9A227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(b) rounded box 19"/>
            <p:cNvSpPr/>
            <p:nvPr/>
          </p:nvSpPr>
          <p:spPr>
            <a:xfrm>
              <a:off x="5054803" y="6917542"/>
              <a:ext cx="240944" cy="208398"/>
            </a:xfrm>
            <a:prstGeom prst="roundRect">
              <a:avLst>
                <a:gd name="adj" fmla="val 34005"/>
              </a:avLst>
            </a:prstGeom>
            <a:solidFill>
              <a:srgbClr val="C9A227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(b) box 20"/>
            <p:cNvSpPr/>
            <p:nvPr/>
          </p:nvSpPr>
          <p:spPr>
            <a:xfrm>
              <a:off x="2432761" y="6150934"/>
              <a:ext cx="566928" cy="163742"/>
            </a:xfrm>
            <a:prstGeom prst="rect">
              <a:avLst/>
            </a:prstGeom>
            <a:solidFill>
              <a:srgbClr val="E0E0E0"/>
            </a:solid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(b) sectioned box 21"/>
            <p:cNvSpPr/>
            <p:nvPr/>
          </p:nvSpPr>
          <p:spPr>
            <a:xfrm>
              <a:off x="2390241" y="5801123"/>
              <a:ext cx="651967" cy="305155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(b) box 22"/>
            <p:cNvSpPr/>
            <p:nvPr/>
          </p:nvSpPr>
          <p:spPr>
            <a:xfrm>
              <a:off x="2432761" y="6537959"/>
              <a:ext cx="566928" cy="163742"/>
            </a:xfrm>
            <a:prstGeom prst="rect">
              <a:avLst/>
            </a:prstGeom>
            <a:solidFill>
              <a:srgbClr val="E0E0E0"/>
            </a:solid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" name="(b) sectioned box 23"/>
            <p:cNvSpPr/>
            <p:nvPr/>
          </p:nvSpPr>
          <p:spPr>
            <a:xfrm>
              <a:off x="2390241" y="6746358"/>
              <a:ext cx="651967" cy="305154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(b) box 24"/>
            <p:cNvSpPr/>
            <p:nvPr/>
          </p:nvSpPr>
          <p:spPr>
            <a:xfrm>
              <a:off x="5522518" y="6150934"/>
              <a:ext cx="566928" cy="163742"/>
            </a:xfrm>
            <a:prstGeom prst="rect">
              <a:avLst/>
            </a:prstGeom>
            <a:solidFill>
              <a:srgbClr val="E0E0E0"/>
            </a:solid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(b) sectioned box 25"/>
            <p:cNvSpPr/>
            <p:nvPr/>
          </p:nvSpPr>
          <p:spPr>
            <a:xfrm>
              <a:off x="5479999" y="5801123"/>
              <a:ext cx="651967" cy="305155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(b) box 26"/>
            <p:cNvSpPr/>
            <p:nvPr/>
          </p:nvSpPr>
          <p:spPr>
            <a:xfrm>
              <a:off x="5522518" y="6537959"/>
              <a:ext cx="566928" cy="163742"/>
            </a:xfrm>
            <a:prstGeom prst="rect">
              <a:avLst/>
            </a:prstGeom>
            <a:solidFill>
              <a:srgbClr val="E0E0E0"/>
            </a:solidFill>
            <a:ln w="19242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(b) sectioned box 27"/>
            <p:cNvSpPr/>
            <p:nvPr/>
          </p:nvSpPr>
          <p:spPr>
            <a:xfrm>
              <a:off x="5479999" y="6746358"/>
              <a:ext cx="651967" cy="305154"/>
            </a:xfrm>
            <a:prstGeom prst="rect">
              <a:avLst/>
            </a:prstGeom>
            <a:pattFill prst="ltDnDiag">
              <a:fgClr>
                <a:srgbClr val="1A1A1A"/>
              </a:fgClr>
              <a:bgClr>
                <a:srgbClr val="FFFFFF"/>
              </a:bgClr>
            </a:pattFill>
            <a:ln w="22128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(b) box 28"/>
            <p:cNvSpPr/>
            <p:nvPr/>
          </p:nvSpPr>
          <p:spPr>
            <a:xfrm>
              <a:off x="2106777" y="6217919"/>
              <a:ext cx="141732" cy="89314"/>
            </a:xfrm>
            <a:prstGeom prst="rect">
              <a:avLst/>
            </a:prstGeom>
            <a:solidFill>
              <a:srgbClr val="A6350F">
                <a:alpha val="55000"/>
              </a:srgbClr>
            </a:solidFill>
            <a:ln w="13469">
              <a:solidFill>
                <a:srgbClr val="1A1A1A">
                  <a:alpha val="55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(b) box 29"/>
            <p:cNvSpPr/>
            <p:nvPr/>
          </p:nvSpPr>
          <p:spPr>
            <a:xfrm>
              <a:off x="2106777" y="6545402"/>
              <a:ext cx="141732" cy="89314"/>
            </a:xfrm>
            <a:prstGeom prst="rect">
              <a:avLst/>
            </a:prstGeom>
            <a:solidFill>
              <a:srgbClr val="A6350F">
                <a:alpha val="55000"/>
              </a:srgbClr>
            </a:solidFill>
            <a:ln w="13469">
              <a:solidFill>
                <a:srgbClr val="1A1A1A">
                  <a:alpha val="55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(b) box 30"/>
            <p:cNvSpPr/>
            <p:nvPr/>
          </p:nvSpPr>
          <p:spPr>
            <a:xfrm>
              <a:off x="6202832" y="6217919"/>
              <a:ext cx="141732" cy="89314"/>
            </a:xfrm>
            <a:prstGeom prst="rect">
              <a:avLst/>
            </a:prstGeom>
            <a:solidFill>
              <a:srgbClr val="A6350F">
                <a:alpha val="55000"/>
              </a:srgbClr>
            </a:solidFill>
            <a:ln w="13469">
              <a:solidFill>
                <a:srgbClr val="1A1A1A">
                  <a:alpha val="55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(b) box 31"/>
            <p:cNvSpPr/>
            <p:nvPr/>
          </p:nvSpPr>
          <p:spPr>
            <a:xfrm>
              <a:off x="6202832" y="6545402"/>
              <a:ext cx="141732" cy="89314"/>
            </a:xfrm>
            <a:prstGeom prst="rect">
              <a:avLst/>
            </a:prstGeom>
            <a:solidFill>
              <a:srgbClr val="A6350F">
                <a:alpha val="55000"/>
              </a:srgbClr>
            </a:solidFill>
            <a:ln w="13469">
              <a:solidFill>
                <a:srgbClr val="1A1A1A">
                  <a:alpha val="55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(b) polygon 32"/>
            <p:cNvSpPr/>
            <p:nvPr/>
          </p:nvSpPr>
          <p:spPr>
            <a:xfrm>
              <a:off x="6812280" y="5823452"/>
              <a:ext cx="637793" cy="506109"/>
            </a:xfrm>
            <a:custGeom>
              <a:avLst/>
              <a:gdLst/>
              <a:ahLst/>
              <a:cxnLst/>
              <a:rect l="l" t="t" r="r" b="b"/>
              <a:pathLst>
                <a:path w="637793" h="506109">
                  <a:moveTo>
                    <a:pt x="0" y="491224"/>
                  </a:moveTo>
                  <a:lnTo>
                    <a:pt x="524408" y="0"/>
                  </a:lnTo>
                  <a:lnTo>
                    <a:pt x="637793" y="96756"/>
                  </a:lnTo>
                  <a:lnTo>
                    <a:pt x="184251" y="506109"/>
                  </a:lnTo>
                  <a:close/>
                </a:path>
              </a:pathLst>
            </a:custGeom>
            <a:solidFill>
              <a:srgbClr val="1F4E79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(b) polygon 33"/>
            <p:cNvSpPr/>
            <p:nvPr/>
          </p:nvSpPr>
          <p:spPr>
            <a:xfrm>
              <a:off x="6798106" y="6091392"/>
              <a:ext cx="524409" cy="267941"/>
            </a:xfrm>
            <a:custGeom>
              <a:avLst/>
              <a:gdLst/>
              <a:ahLst/>
              <a:cxnLst/>
              <a:rect l="l" t="t" r="r" b="b"/>
              <a:pathLst>
                <a:path w="524409" h="267941">
                  <a:moveTo>
                    <a:pt x="0" y="253055"/>
                  </a:moveTo>
                  <a:lnTo>
                    <a:pt x="411023" y="0"/>
                  </a:lnTo>
                  <a:lnTo>
                    <a:pt x="524409" y="96756"/>
                  </a:lnTo>
                  <a:lnTo>
                    <a:pt x="141732" y="267941"/>
                  </a:lnTo>
                  <a:close/>
                </a:path>
              </a:pathLst>
            </a:custGeom>
            <a:solidFill>
              <a:srgbClr val="1F4E79">
                <a:alpha val="75000"/>
              </a:srgbClr>
            </a:solidFill>
            <a:ln w="15393">
              <a:solidFill>
                <a:srgbClr val="1A1A1A">
                  <a:alpha val="75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(b) polygon 34"/>
            <p:cNvSpPr/>
            <p:nvPr/>
          </p:nvSpPr>
          <p:spPr>
            <a:xfrm>
              <a:off x="6812280" y="6523074"/>
              <a:ext cx="637793" cy="506110"/>
            </a:xfrm>
            <a:custGeom>
              <a:avLst/>
              <a:gdLst/>
              <a:ahLst/>
              <a:cxnLst/>
              <a:rect l="l" t="t" r="r" b="b"/>
              <a:pathLst>
                <a:path w="637793" h="506110">
                  <a:moveTo>
                    <a:pt x="0" y="14885"/>
                  </a:moveTo>
                  <a:lnTo>
                    <a:pt x="524408" y="506110"/>
                  </a:lnTo>
                  <a:lnTo>
                    <a:pt x="637793" y="409353"/>
                  </a:lnTo>
                  <a:lnTo>
                    <a:pt x="184251" y="0"/>
                  </a:lnTo>
                  <a:close/>
                </a:path>
              </a:pathLst>
            </a:custGeom>
            <a:solidFill>
              <a:srgbClr val="1F4E79"/>
            </a:solidFill>
            <a:ln w="15393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(b) polygon 35"/>
            <p:cNvSpPr/>
            <p:nvPr/>
          </p:nvSpPr>
          <p:spPr>
            <a:xfrm>
              <a:off x="6798106" y="6493303"/>
              <a:ext cx="524409" cy="267940"/>
            </a:xfrm>
            <a:custGeom>
              <a:avLst/>
              <a:gdLst/>
              <a:ahLst/>
              <a:cxnLst/>
              <a:rect l="l" t="t" r="r" b="b"/>
              <a:pathLst>
                <a:path w="524409" h="267940">
                  <a:moveTo>
                    <a:pt x="0" y="14885"/>
                  </a:moveTo>
                  <a:lnTo>
                    <a:pt x="411023" y="267940"/>
                  </a:lnTo>
                  <a:lnTo>
                    <a:pt x="524409" y="171184"/>
                  </a:lnTo>
                  <a:lnTo>
                    <a:pt x="141732" y="0"/>
                  </a:lnTo>
                  <a:close/>
                </a:path>
              </a:pathLst>
            </a:custGeom>
            <a:solidFill>
              <a:srgbClr val="1F4E79">
                <a:alpha val="75000"/>
              </a:srgbClr>
            </a:solidFill>
            <a:ln w="15393">
              <a:solidFill>
                <a:srgbClr val="1A1A1A">
                  <a:alpha val="75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(b) label “solid rotor”"/>
            <p:cNvSpPr txBox="1"/>
            <p:nvPr/>
          </p:nvSpPr>
          <p:spPr>
            <a:xfrm>
              <a:off x="3805378" y="6085899"/>
              <a:ext cx="939799" cy="1524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199"/>
                </a:lnSpc>
              </a:pPr>
              <a:r>
                <a:rPr sz="1000" b="1" i="0">
                  <a:solidFill>
                    <a:srgbClr val="FFFFFF"/>
                  </a:solidFill>
                  <a:latin typeface="Times New Roman"/>
                </a:rPr>
                <a:t>solid rotor</a:t>
              </a:r>
            </a:p>
          </p:txBody>
        </p:sp>
        <p:sp>
          <p:nvSpPr>
            <p:cNvPr id="107" name="(b) label “stator core”"/>
            <p:cNvSpPr txBox="1"/>
            <p:nvPr/>
          </p:nvSpPr>
          <p:spPr>
            <a:xfrm>
              <a:off x="3818924" y="5757004"/>
              <a:ext cx="912706" cy="14778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163"/>
                </a:lnSpc>
              </a:pPr>
              <a:r>
                <a:rPr sz="969" b="0" i="0">
                  <a:solidFill>
                    <a:srgbClr val="000000"/>
                  </a:solidFill>
                  <a:latin typeface="Times New Roman"/>
                </a:rPr>
                <a:t>stator core</a:t>
              </a:r>
            </a:p>
          </p:txBody>
        </p:sp>
        <p:cxnSp>
          <p:nvCxnSpPr>
            <p:cNvPr id="108" name="(b) leader 38"/>
            <p:cNvCxnSpPr/>
            <p:nvPr/>
          </p:nvCxnSpPr>
          <p:spPr>
            <a:xfrm flipH="1">
              <a:off x="4499553" y="5417428"/>
              <a:ext cx="149981" cy="165395"/>
            </a:xfrm>
            <a:prstGeom prst="line">
              <a:avLst/>
            </a:prstGeom>
            <a:ln w="11545">
              <a:solidFill>
                <a:srgbClr val="80808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(b) label “cooling jacket”"/>
            <p:cNvSpPr txBox="1"/>
            <p:nvPr/>
          </p:nvSpPr>
          <p:spPr>
            <a:xfrm>
              <a:off x="4128963" y="5258774"/>
              <a:ext cx="1114675" cy="143163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27"/>
                </a:lnSpc>
              </a:pPr>
              <a:r>
                <a:rPr sz="939" b="0" i="0">
                  <a:solidFill>
                    <a:srgbClr val="474747"/>
                  </a:solidFill>
                  <a:latin typeface="Times New Roman"/>
                </a:rPr>
                <a:t>cooling jacket</a:t>
              </a:r>
            </a:p>
          </p:txBody>
        </p:sp>
        <p:cxnSp>
          <p:nvCxnSpPr>
            <p:cNvPr id="110" name="(b) leader 40"/>
            <p:cNvCxnSpPr/>
            <p:nvPr/>
          </p:nvCxnSpPr>
          <p:spPr>
            <a:xfrm>
              <a:off x="2807196" y="5417418"/>
              <a:ext cx="514515" cy="333023"/>
            </a:xfrm>
            <a:prstGeom prst="line">
              <a:avLst/>
            </a:prstGeom>
            <a:ln w="11545">
              <a:solidFill>
                <a:srgbClr val="80808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(b) label “end winding”"/>
            <p:cNvSpPr txBox="1"/>
            <p:nvPr/>
          </p:nvSpPr>
          <p:spPr>
            <a:xfrm>
              <a:off x="2301765" y="5258774"/>
              <a:ext cx="885613" cy="143163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27"/>
                </a:lnSpc>
              </a:pPr>
              <a:r>
                <a:rPr sz="939" b="0" i="0">
                  <a:solidFill>
                    <a:srgbClr val="474747"/>
                  </a:solidFill>
                  <a:latin typeface="Times New Roman"/>
                </a:rPr>
                <a:t>end winding</a:t>
              </a:r>
            </a:p>
          </p:txBody>
        </p:sp>
        <p:cxnSp>
          <p:nvCxnSpPr>
            <p:cNvPr id="112" name="(b) leader 42"/>
            <p:cNvCxnSpPr/>
            <p:nvPr/>
          </p:nvCxnSpPr>
          <p:spPr>
            <a:xfrm>
              <a:off x="7143876" y="5475095"/>
              <a:ext cx="60318" cy="466488"/>
            </a:xfrm>
            <a:prstGeom prst="line">
              <a:avLst/>
            </a:prstGeom>
            <a:ln w="11545">
              <a:solidFill>
                <a:srgbClr val="80808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(b) label “impeller, overhung on”"/>
            <p:cNvSpPr txBox="1"/>
            <p:nvPr/>
          </p:nvSpPr>
          <p:spPr>
            <a:xfrm>
              <a:off x="6192070" y="4900865"/>
              <a:ext cx="1878214" cy="501072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315"/>
                </a:lnSpc>
              </a:pPr>
              <a:r>
                <a:rPr sz="939" b="0" i="0">
                  <a:solidFill>
                    <a:srgbClr val="474747"/>
                  </a:solidFill>
                  <a:latin typeface="Times New Roman"/>
                </a:rPr>
                <a:t>impeller, overhung on</a:t>
              </a:r>
            </a:p>
            <a:p>
              <a:pPr algn="ctr">
                <a:lnSpc>
                  <a:spcPts val="1315"/>
                </a:lnSpc>
              </a:pPr>
              <a:r>
                <a:rPr sz="939" b="0" i="0">
                  <a:solidFill>
                    <a:srgbClr val="474747"/>
                  </a:solidFill>
                  <a:latin typeface="Times New Roman"/>
                </a:rPr>
                <a:t>the shaft end, outboard</a:t>
              </a:r>
            </a:p>
            <a:p>
              <a:pPr algn="ctr">
                <a:lnSpc>
                  <a:spcPts val="1315"/>
                </a:lnSpc>
              </a:pPr>
              <a:r>
                <a:rPr sz="939" b="0" i="0">
                  <a:solidFill>
                    <a:srgbClr val="474747"/>
                  </a:solidFill>
                  <a:latin typeface="Times New Roman"/>
                </a:rPr>
                <a:t>of the drive-end bearing</a:t>
              </a:r>
            </a:p>
          </p:txBody>
        </p:sp>
        <p:cxnSp>
          <p:nvCxnSpPr>
            <p:cNvPr id="114" name="(b) leader 44"/>
            <p:cNvCxnSpPr/>
            <p:nvPr/>
          </p:nvCxnSpPr>
          <p:spPr>
            <a:xfrm flipV="1">
              <a:off x="1809886" y="6670258"/>
              <a:ext cx="352999" cy="850150"/>
            </a:xfrm>
            <a:prstGeom prst="line">
              <a:avLst/>
            </a:prstGeom>
            <a:ln w="11545">
              <a:solidFill>
                <a:srgbClr val="80808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(b) label “touchdown bearing”"/>
            <p:cNvSpPr txBox="1"/>
            <p:nvPr/>
          </p:nvSpPr>
          <p:spPr>
            <a:xfrm>
              <a:off x="1094752" y="7506497"/>
              <a:ext cx="1343736" cy="143163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27"/>
                </a:lnSpc>
              </a:pPr>
              <a:r>
                <a:rPr sz="939" b="0" i="0">
                  <a:solidFill>
                    <a:srgbClr val="474747"/>
                  </a:solidFill>
                  <a:latin typeface="Times New Roman"/>
                </a:rPr>
                <a:t>touchdown bearing</a:t>
              </a:r>
            </a:p>
          </p:txBody>
        </p:sp>
        <p:cxnSp>
          <p:nvCxnSpPr>
            <p:cNvPr id="116" name="(b) leader 46"/>
            <p:cNvCxnSpPr/>
            <p:nvPr/>
          </p:nvCxnSpPr>
          <p:spPr>
            <a:xfrm flipV="1">
              <a:off x="2716225" y="7089997"/>
              <a:ext cx="0" cy="306290"/>
            </a:xfrm>
            <a:prstGeom prst="line">
              <a:avLst/>
            </a:prstGeom>
            <a:ln w="13469">
              <a:solidFill>
                <a:srgbClr val="A6350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(b) label “radial AMB”"/>
            <p:cNvSpPr txBox="1"/>
            <p:nvPr/>
          </p:nvSpPr>
          <p:spPr>
            <a:xfrm>
              <a:off x="2299281" y="7383603"/>
              <a:ext cx="833889" cy="147781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63"/>
                </a:lnSpc>
              </a:pPr>
              <a:r>
                <a:rPr sz="969" b="0" i="0">
                  <a:solidFill>
                    <a:srgbClr val="A6350F"/>
                  </a:solidFill>
                  <a:latin typeface="Times New Roman"/>
                </a:rPr>
                <a:t>radial AMB</a:t>
              </a:r>
            </a:p>
          </p:txBody>
        </p:sp>
        <p:cxnSp>
          <p:nvCxnSpPr>
            <p:cNvPr id="118" name="(b) leader 48"/>
            <p:cNvCxnSpPr/>
            <p:nvPr/>
          </p:nvCxnSpPr>
          <p:spPr>
            <a:xfrm flipV="1">
              <a:off x="5805982" y="7089997"/>
              <a:ext cx="0" cy="306290"/>
            </a:xfrm>
            <a:prstGeom prst="line">
              <a:avLst/>
            </a:prstGeom>
            <a:ln w="13469">
              <a:solidFill>
                <a:srgbClr val="A6350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(b) label “radial AMB”"/>
            <p:cNvSpPr txBox="1"/>
            <p:nvPr/>
          </p:nvSpPr>
          <p:spPr>
            <a:xfrm>
              <a:off x="5389038" y="7383603"/>
              <a:ext cx="833889" cy="147781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163"/>
                </a:lnSpc>
              </a:pPr>
              <a:r>
                <a:rPr sz="969" b="0" i="0">
                  <a:solidFill>
                    <a:srgbClr val="A6350F"/>
                  </a:solidFill>
                  <a:latin typeface="Times New Roman"/>
                </a:rPr>
                <a:t>radial AMB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