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60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1.2 of Chapter 1, drawn as native PowerPoint shapes; no picture is embedded, so every part and label can be edited here.</a:t>
            </a:r>
          </a:p>
          <a:p/>
          <a:p>
            <a:r>
              <a:t>Source of truth: chapter1/src/ch1_figures.py, geared_vs_directdrive(). Regenerate this file with `python3 src/mpl_to_pptx.py`. The PNG in the manuscript comes from ch1_figures.py itself, so edits made here do not travel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5731200" cy="60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Figure 1.2 (a)"/>
          <p:cNvGrpSpPr/>
          <p:nvPr/>
        </p:nvGrpSpPr>
        <p:grpSpPr>
          <a:xfrm>
            <a:off x="53999" y="31059"/>
            <a:ext cx="5623200" cy="3490760"/>
            <a:chOff x="53999" y="31059"/>
            <a:chExt cx="5623200" cy="3490760"/>
          </a:xfrm>
        </p:grpSpPr>
        <p:sp>
          <p:nvSpPr>
            <p:cNvPr id="4" name="(a) box 01"/>
            <p:cNvSpPr/>
            <p:nvPr/>
          </p:nvSpPr>
          <p:spPr>
            <a:xfrm>
              <a:off x="53999" y="2052000"/>
              <a:ext cx="5623200" cy="12348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(a) line 02"/>
            <p:cNvCxnSpPr/>
            <p:nvPr/>
          </p:nvCxnSpPr>
          <p:spPr>
            <a:xfrm>
              <a:off x="53999" y="2052000"/>
              <a:ext cx="5623200" cy="0"/>
            </a:xfrm>
            <a:prstGeom prst="line">
              <a:avLst/>
            </a:prstGeom>
            <a:ln w="1651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(a) box 03"/>
            <p:cNvSpPr/>
            <p:nvPr/>
          </p:nvSpPr>
          <p:spPr>
            <a:xfrm>
              <a:off x="291599" y="1825200"/>
              <a:ext cx="4611600" cy="226800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(a) line 04"/>
            <p:cNvCxnSpPr/>
            <p:nvPr/>
          </p:nvCxnSpPr>
          <p:spPr>
            <a:xfrm>
              <a:off x="3302999" y="2682000"/>
              <a:ext cx="189000" cy="0"/>
            </a:xfrm>
            <a:prstGeom prst="line">
              <a:avLst/>
            </a:prstGeom>
            <a:ln w="12700">
              <a:solidFill>
                <a:srgbClr val="A635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(a) line 05"/>
            <p:cNvCxnSpPr/>
            <p:nvPr/>
          </p:nvCxnSpPr>
          <p:spPr>
            <a:xfrm>
              <a:off x="3794399" y="2682000"/>
              <a:ext cx="151200" cy="0"/>
            </a:xfrm>
            <a:prstGeom prst="line">
              <a:avLst/>
            </a:prstGeom>
            <a:ln w="12700">
              <a:solidFill>
                <a:srgbClr val="A635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(a) line 06"/>
            <p:cNvSpPr/>
            <p:nvPr/>
          </p:nvSpPr>
          <p:spPr>
            <a:xfrm>
              <a:off x="2924999" y="1774800"/>
              <a:ext cx="1310400" cy="693000"/>
            </a:xfrm>
            <a:custGeom>
              <a:avLst/>
              <a:gdLst/>
              <a:ahLst/>
              <a:cxnLst/>
              <a:rect l="l" t="t" r="r" b="b"/>
              <a:pathLst>
                <a:path w="1310400" h="693000">
                  <a:moveTo>
                    <a:pt x="1310400" y="693000"/>
                  </a:moveTo>
                  <a:lnTo>
                    <a:pt x="1310400" y="403200"/>
                  </a:lnTo>
                  <a:lnTo>
                    <a:pt x="0" y="40320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A6350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(a) line 07"/>
            <p:cNvCxnSpPr/>
            <p:nvPr/>
          </p:nvCxnSpPr>
          <p:spPr>
            <a:xfrm>
              <a:off x="2799000" y="1774800"/>
              <a:ext cx="0" cy="617400"/>
            </a:xfrm>
            <a:prstGeom prst="line">
              <a:avLst/>
            </a:prstGeom>
            <a:ln w="12700" cap="flat">
              <a:solidFill>
                <a:srgbClr val="A6350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(a) box 08"/>
            <p:cNvSpPr/>
            <p:nvPr/>
          </p:nvSpPr>
          <p:spPr>
            <a:xfrm>
              <a:off x="719999" y="1749600"/>
              <a:ext cx="277200" cy="756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(a) box 09"/>
            <p:cNvSpPr/>
            <p:nvPr/>
          </p:nvSpPr>
          <p:spPr>
            <a:xfrm>
              <a:off x="1576799" y="1749600"/>
              <a:ext cx="277200" cy="756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(a) rounded box 10"/>
            <p:cNvSpPr/>
            <p:nvPr/>
          </p:nvSpPr>
          <p:spPr>
            <a:xfrm>
              <a:off x="341999" y="1018799"/>
              <a:ext cx="214200" cy="718201"/>
            </a:xfrm>
            <a:prstGeom prst="roundRect">
              <a:avLst>
                <a:gd name="adj" fmla="val 23529"/>
              </a:avLst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(a) box 11"/>
            <p:cNvSpPr/>
            <p:nvPr/>
          </p:nvSpPr>
          <p:spPr>
            <a:xfrm>
              <a:off x="531000" y="968399"/>
              <a:ext cx="1448999" cy="819001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(a) box 12"/>
            <p:cNvSpPr/>
            <p:nvPr/>
          </p:nvSpPr>
          <p:spPr>
            <a:xfrm>
              <a:off x="1072799" y="552600"/>
              <a:ext cx="504000" cy="415799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(a) rounded box 13"/>
            <p:cNvSpPr/>
            <p:nvPr/>
          </p:nvSpPr>
          <p:spPr>
            <a:xfrm>
              <a:off x="1979999" y="1100699"/>
              <a:ext cx="63001" cy="554401"/>
            </a:xfrm>
            <a:prstGeom prst="roundRect">
              <a:avLst>
                <a:gd name="adj" fmla="val 39999"/>
              </a:avLst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(a) box 14"/>
            <p:cNvSpPr/>
            <p:nvPr/>
          </p:nvSpPr>
          <p:spPr>
            <a:xfrm>
              <a:off x="2660399" y="1762200"/>
              <a:ext cx="226800" cy="630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(a) box 15"/>
            <p:cNvSpPr/>
            <p:nvPr/>
          </p:nvSpPr>
          <p:spPr>
            <a:xfrm>
              <a:off x="3088799" y="1762200"/>
              <a:ext cx="226801" cy="630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(a) box 16"/>
            <p:cNvSpPr/>
            <p:nvPr/>
          </p:nvSpPr>
          <p:spPr>
            <a:xfrm>
              <a:off x="2609999" y="766800"/>
              <a:ext cx="756000" cy="10080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(a) box 17"/>
            <p:cNvSpPr/>
            <p:nvPr/>
          </p:nvSpPr>
          <p:spPr>
            <a:xfrm>
              <a:off x="2761199" y="716400"/>
              <a:ext cx="453600" cy="504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(a) rounded box 18"/>
            <p:cNvSpPr/>
            <p:nvPr/>
          </p:nvSpPr>
          <p:spPr>
            <a:xfrm>
              <a:off x="3019499" y="603000"/>
              <a:ext cx="69300" cy="37800"/>
            </a:xfrm>
            <a:prstGeom prst="roundRect">
              <a:avLst>
                <a:gd name="adj" fmla="val 33333"/>
              </a:avLst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(a) box 19"/>
            <p:cNvSpPr/>
            <p:nvPr/>
          </p:nvSpPr>
          <p:spPr>
            <a:xfrm>
              <a:off x="3995999" y="1188899"/>
              <a:ext cx="277200" cy="636301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(a) box 20"/>
            <p:cNvSpPr/>
            <p:nvPr/>
          </p:nvSpPr>
          <p:spPr>
            <a:xfrm>
              <a:off x="4399199" y="1340100"/>
              <a:ext cx="226800" cy="4851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(a) box 21"/>
            <p:cNvSpPr/>
            <p:nvPr/>
          </p:nvSpPr>
          <p:spPr>
            <a:xfrm>
              <a:off x="2294999" y="2505600"/>
              <a:ext cx="1008000" cy="453600"/>
            </a:xfrm>
            <a:prstGeom prst="rect">
              <a:avLst/>
            </a:prstGeom>
            <a:solidFill>
              <a:srgbClr val="F4E6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(a) box 22"/>
            <p:cNvSpPr/>
            <p:nvPr/>
          </p:nvSpPr>
          <p:spPr>
            <a:xfrm>
              <a:off x="3945599" y="2467800"/>
              <a:ext cx="579600" cy="428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(a) label “machine floor”"/>
            <p:cNvSpPr txBox="1"/>
            <p:nvPr/>
          </p:nvSpPr>
          <p:spPr>
            <a:xfrm>
              <a:off x="4407975" y="2083380"/>
              <a:ext cx="120802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machine floor</a:t>
              </a:r>
            </a:p>
          </p:txBody>
        </p:sp>
        <p:sp>
          <p:nvSpPr>
            <p:cNvPr id="27" name="(a) label “oil feed and return”"/>
            <p:cNvSpPr txBox="1"/>
            <p:nvPr/>
          </p:nvSpPr>
          <p:spPr>
            <a:xfrm>
              <a:off x="941128" y="2083380"/>
              <a:ext cx="1744472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oil feed and return</a:t>
              </a:r>
            </a:p>
          </p:txBody>
        </p:sp>
        <p:sp>
          <p:nvSpPr>
            <p:cNvPr id="28" name="(a) label “oil tank”"/>
            <p:cNvSpPr txBox="1"/>
            <p:nvPr/>
          </p:nvSpPr>
          <p:spPr>
            <a:xfrm>
              <a:off x="2418508" y="3051780"/>
              <a:ext cx="76098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oil tank</a:t>
              </a:r>
            </a:p>
          </p:txBody>
        </p:sp>
        <p:sp>
          <p:nvSpPr>
            <p:cNvPr id="29" name="(a) label “pump”"/>
            <p:cNvSpPr txBox="1"/>
            <p:nvPr/>
          </p:nvSpPr>
          <p:spPr>
            <a:xfrm>
              <a:off x="3441523" y="3051780"/>
              <a:ext cx="403352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pump</a:t>
              </a:r>
            </a:p>
          </p:txBody>
        </p:sp>
        <p:sp>
          <p:nvSpPr>
            <p:cNvPr id="30" name="(a) label “oil cooler”"/>
            <p:cNvSpPr txBox="1"/>
            <p:nvPr/>
          </p:nvSpPr>
          <p:spPr>
            <a:xfrm>
              <a:off x="3765499" y="3051780"/>
              <a:ext cx="93980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oil cooler</a:t>
              </a:r>
            </a:p>
          </p:txBody>
        </p:sp>
        <p:sp>
          <p:nvSpPr>
            <p:cNvPr id="31" name="(a) label “0”"/>
            <p:cNvSpPr txBox="1"/>
            <p:nvPr/>
          </p:nvSpPr>
          <p:spPr>
            <a:xfrm>
              <a:off x="274435" y="2857380"/>
              <a:ext cx="135128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sp>
          <p:nvSpPr>
            <p:cNvPr id="32" name="(a) label “0.5”"/>
            <p:cNvSpPr txBox="1"/>
            <p:nvPr/>
          </p:nvSpPr>
          <p:spPr>
            <a:xfrm>
              <a:off x="815027" y="2857380"/>
              <a:ext cx="31394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0.5</a:t>
              </a:r>
            </a:p>
          </p:txBody>
        </p:sp>
        <p:sp>
          <p:nvSpPr>
            <p:cNvPr id="33" name="(a) label “1 m”"/>
            <p:cNvSpPr txBox="1"/>
            <p:nvPr/>
          </p:nvSpPr>
          <p:spPr>
            <a:xfrm>
              <a:off x="1445027" y="2857380"/>
              <a:ext cx="31394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1 m</a:t>
              </a:r>
            </a:p>
          </p:txBody>
        </p:sp>
        <p:sp>
          <p:nvSpPr>
            <p:cNvPr id="34" name="(a) label “motor”"/>
            <p:cNvSpPr txBox="1"/>
            <p:nvPr/>
          </p:nvSpPr>
          <p:spPr>
            <a:xfrm>
              <a:off x="691099" y="31059"/>
              <a:ext cx="939800" cy="307340"/>
            </a:xfrm>
            <a:prstGeom prst="rect">
              <a:avLst/>
            </a:prstGeom>
            <a:noFill/>
          </p:spPr>
          <p:txBody>
            <a:bodyPr wrap="none" lIns="0" rIns="0" tIns="0" bIns="0" anchor="b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motor</a:t>
              </a:r>
            </a:p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1500 r/min</a:t>
              </a:r>
            </a:p>
          </p:txBody>
        </p:sp>
        <p:sp>
          <p:nvSpPr>
            <p:cNvPr id="35" name="(a) label “gearbox”"/>
            <p:cNvSpPr txBox="1"/>
            <p:nvPr/>
          </p:nvSpPr>
          <p:spPr>
            <a:xfrm>
              <a:off x="2473396" y="31059"/>
              <a:ext cx="1029208" cy="307340"/>
            </a:xfrm>
            <a:prstGeom prst="rect">
              <a:avLst/>
            </a:prstGeom>
            <a:noFill/>
          </p:spPr>
          <p:txBody>
            <a:bodyPr wrap="none" lIns="0" rIns="0" tIns="0" bIns="0" anchor="b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gearbox</a:t>
              </a:r>
            </a:p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step-up ×20</a:t>
              </a:r>
            </a:p>
          </p:txBody>
        </p:sp>
        <p:sp>
          <p:nvSpPr>
            <p:cNvPr id="36" name="(a) label “compressor”"/>
            <p:cNvSpPr txBox="1"/>
            <p:nvPr/>
          </p:nvSpPr>
          <p:spPr>
            <a:xfrm>
              <a:off x="3953292" y="31059"/>
              <a:ext cx="1118616" cy="307340"/>
            </a:xfrm>
            <a:prstGeom prst="rect">
              <a:avLst/>
            </a:prstGeom>
            <a:noFill/>
          </p:spPr>
          <p:txBody>
            <a:bodyPr wrap="none" lIns="0" rIns="0" tIns="0" bIns="0" anchor="b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compressor</a:t>
              </a:r>
            </a:p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30 000 r/min</a:t>
              </a:r>
            </a:p>
          </p:txBody>
        </p:sp>
        <p:sp>
          <p:nvSpPr>
            <p:cNvPr id="37" name="(a) label “(a) Geared train”"/>
            <p:cNvSpPr txBox="1"/>
            <p:nvPr/>
          </p:nvSpPr>
          <p:spPr>
            <a:xfrm>
              <a:off x="2127476" y="3354179"/>
              <a:ext cx="1476248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(a) Geared train</a:t>
              </a:r>
            </a:p>
          </p:txBody>
        </p:sp>
        <p:sp>
          <p:nvSpPr>
            <p:cNvPr id="38" name="(a) box 35"/>
            <p:cNvSpPr/>
            <p:nvPr/>
          </p:nvSpPr>
          <p:spPr>
            <a:xfrm>
              <a:off x="4418099" y="458100"/>
              <a:ext cx="189000" cy="2268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(a) line 36"/>
            <p:cNvCxnSpPr/>
            <p:nvPr/>
          </p:nvCxnSpPr>
          <p:spPr>
            <a:xfrm>
              <a:off x="581399" y="1711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(a) line 37"/>
            <p:cNvCxnSpPr/>
            <p:nvPr/>
          </p:nvCxnSpPr>
          <p:spPr>
            <a:xfrm>
              <a:off x="581399" y="1648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(a) line 38"/>
            <p:cNvCxnSpPr/>
            <p:nvPr/>
          </p:nvCxnSpPr>
          <p:spPr>
            <a:xfrm>
              <a:off x="581399" y="1585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(a) line 39"/>
            <p:cNvCxnSpPr/>
            <p:nvPr/>
          </p:nvCxnSpPr>
          <p:spPr>
            <a:xfrm>
              <a:off x="581399" y="1522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(a) line 40"/>
            <p:cNvCxnSpPr/>
            <p:nvPr/>
          </p:nvCxnSpPr>
          <p:spPr>
            <a:xfrm>
              <a:off x="581399" y="1459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(a) line 41"/>
            <p:cNvCxnSpPr/>
            <p:nvPr/>
          </p:nvCxnSpPr>
          <p:spPr>
            <a:xfrm>
              <a:off x="581399" y="1396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(a) line 42"/>
            <p:cNvCxnSpPr/>
            <p:nvPr/>
          </p:nvCxnSpPr>
          <p:spPr>
            <a:xfrm>
              <a:off x="581399" y="1333799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(a) box 43"/>
            <p:cNvSpPr/>
            <p:nvPr/>
          </p:nvSpPr>
          <p:spPr>
            <a:xfrm>
              <a:off x="2043000" y="1314900"/>
              <a:ext cx="258300" cy="126000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(a) line 44"/>
            <p:cNvCxnSpPr/>
            <p:nvPr/>
          </p:nvCxnSpPr>
          <p:spPr>
            <a:xfrm>
              <a:off x="581399" y="1270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(a) line 45"/>
            <p:cNvCxnSpPr/>
            <p:nvPr/>
          </p:nvCxnSpPr>
          <p:spPr>
            <a:xfrm>
              <a:off x="581399" y="1207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(a) line 46"/>
            <p:cNvCxnSpPr/>
            <p:nvPr/>
          </p:nvCxnSpPr>
          <p:spPr>
            <a:xfrm>
              <a:off x="581399" y="1144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(a) box 47"/>
            <p:cNvSpPr/>
            <p:nvPr/>
          </p:nvSpPr>
          <p:spPr>
            <a:xfrm>
              <a:off x="2313899" y="1321200"/>
              <a:ext cx="270900" cy="113400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(a) line 48"/>
            <p:cNvCxnSpPr/>
            <p:nvPr/>
          </p:nvCxnSpPr>
          <p:spPr>
            <a:xfrm>
              <a:off x="581399" y="1081800"/>
              <a:ext cx="1348200" cy="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(a) line 49"/>
            <p:cNvCxnSpPr/>
            <p:nvPr/>
          </p:nvCxnSpPr>
          <p:spPr>
            <a:xfrm>
              <a:off x="2294999" y="2505600"/>
              <a:ext cx="1008000" cy="0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(a) line 50"/>
            <p:cNvCxnSpPr/>
            <p:nvPr/>
          </p:nvCxnSpPr>
          <p:spPr>
            <a:xfrm flipV="1">
              <a:off x="3989699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(a) box 51"/>
            <p:cNvSpPr/>
            <p:nvPr/>
          </p:nvSpPr>
          <p:spPr>
            <a:xfrm>
              <a:off x="2547000" y="1239300"/>
              <a:ext cx="62999" cy="2772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(a) line 52"/>
            <p:cNvCxnSpPr/>
            <p:nvPr/>
          </p:nvCxnSpPr>
          <p:spPr>
            <a:xfrm flipV="1">
              <a:off x="4033799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(a) box 53"/>
            <p:cNvSpPr/>
            <p:nvPr/>
          </p:nvSpPr>
          <p:spPr>
            <a:xfrm>
              <a:off x="3365999" y="899100"/>
              <a:ext cx="63000" cy="201599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(a) line 54"/>
            <p:cNvCxnSpPr/>
            <p:nvPr/>
          </p:nvCxnSpPr>
          <p:spPr>
            <a:xfrm flipV="1">
              <a:off x="4077899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(a) line 55"/>
            <p:cNvCxnSpPr/>
            <p:nvPr/>
          </p:nvCxnSpPr>
          <p:spPr>
            <a:xfrm flipV="1">
              <a:off x="41220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(a) box 56"/>
            <p:cNvSpPr/>
            <p:nvPr/>
          </p:nvSpPr>
          <p:spPr>
            <a:xfrm>
              <a:off x="2773800" y="842400"/>
              <a:ext cx="44099" cy="856800"/>
            </a:xfrm>
            <a:prstGeom prst="rect">
              <a:avLst/>
            </a:prstGeom>
            <a:solidFill>
              <a:srgbClr val="DCDCD6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(a) line 57"/>
            <p:cNvCxnSpPr/>
            <p:nvPr/>
          </p:nvCxnSpPr>
          <p:spPr>
            <a:xfrm flipV="1">
              <a:off x="4166099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(a) box 58"/>
            <p:cNvSpPr/>
            <p:nvPr/>
          </p:nvSpPr>
          <p:spPr>
            <a:xfrm>
              <a:off x="2962799" y="842400"/>
              <a:ext cx="44100" cy="856800"/>
            </a:xfrm>
            <a:prstGeom prst="rect">
              <a:avLst/>
            </a:prstGeom>
            <a:solidFill>
              <a:srgbClr val="DCDCD6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(a) line 59"/>
            <p:cNvCxnSpPr/>
            <p:nvPr/>
          </p:nvCxnSpPr>
          <p:spPr>
            <a:xfrm flipV="1">
              <a:off x="42102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(a) box 60"/>
            <p:cNvSpPr/>
            <p:nvPr/>
          </p:nvSpPr>
          <p:spPr>
            <a:xfrm>
              <a:off x="3151799" y="842400"/>
              <a:ext cx="44100" cy="856800"/>
            </a:xfrm>
            <a:prstGeom prst="rect">
              <a:avLst/>
            </a:prstGeom>
            <a:solidFill>
              <a:srgbClr val="DCDCD6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(a) line 61"/>
            <p:cNvCxnSpPr/>
            <p:nvPr/>
          </p:nvCxnSpPr>
          <p:spPr>
            <a:xfrm flipV="1">
              <a:off x="42543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(a) line 62"/>
            <p:cNvCxnSpPr/>
            <p:nvPr/>
          </p:nvCxnSpPr>
          <p:spPr>
            <a:xfrm flipV="1">
              <a:off x="42984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(a) line 63"/>
            <p:cNvCxnSpPr/>
            <p:nvPr/>
          </p:nvCxnSpPr>
          <p:spPr>
            <a:xfrm flipV="1">
              <a:off x="43425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(a) line 64"/>
            <p:cNvCxnSpPr/>
            <p:nvPr/>
          </p:nvCxnSpPr>
          <p:spPr>
            <a:xfrm flipV="1">
              <a:off x="43866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(a) box 65"/>
            <p:cNvSpPr/>
            <p:nvPr/>
          </p:nvSpPr>
          <p:spPr>
            <a:xfrm>
              <a:off x="3044699" y="640800"/>
              <a:ext cx="18900" cy="75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(a) line 66"/>
            <p:cNvCxnSpPr/>
            <p:nvPr/>
          </p:nvCxnSpPr>
          <p:spPr>
            <a:xfrm flipV="1">
              <a:off x="44307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(a) line 67"/>
            <p:cNvCxnSpPr/>
            <p:nvPr/>
          </p:nvCxnSpPr>
          <p:spPr>
            <a:xfrm flipV="1">
              <a:off x="4474800" y="2511900"/>
              <a:ext cx="0" cy="340200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(a) box 68"/>
            <p:cNvSpPr/>
            <p:nvPr/>
          </p:nvSpPr>
          <p:spPr>
            <a:xfrm>
              <a:off x="3428999" y="968399"/>
              <a:ext cx="100800" cy="63001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(a) box 69"/>
            <p:cNvSpPr/>
            <p:nvPr/>
          </p:nvSpPr>
          <p:spPr>
            <a:xfrm>
              <a:off x="3794399" y="968399"/>
              <a:ext cx="126000" cy="63001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(a) box 70"/>
            <p:cNvSpPr/>
            <p:nvPr/>
          </p:nvSpPr>
          <p:spPr>
            <a:xfrm>
              <a:off x="3920399" y="810900"/>
              <a:ext cx="428401" cy="377999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(a) rounded box 71"/>
            <p:cNvSpPr/>
            <p:nvPr/>
          </p:nvSpPr>
          <p:spPr>
            <a:xfrm>
              <a:off x="4348800" y="647099"/>
              <a:ext cx="327599" cy="705601"/>
            </a:xfrm>
            <a:prstGeom prst="roundRect">
              <a:avLst>
                <a:gd name="adj" fmla="val 34615"/>
              </a:avLst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(a) box 72"/>
            <p:cNvSpPr/>
            <p:nvPr/>
          </p:nvSpPr>
          <p:spPr>
            <a:xfrm>
              <a:off x="4374000" y="426600"/>
              <a:ext cx="277199" cy="315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(a) box 73"/>
            <p:cNvSpPr/>
            <p:nvPr/>
          </p:nvSpPr>
          <p:spPr>
            <a:xfrm>
              <a:off x="4676399" y="861300"/>
              <a:ext cx="504000" cy="2772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(a) box 74"/>
            <p:cNvSpPr/>
            <p:nvPr/>
          </p:nvSpPr>
          <p:spPr>
            <a:xfrm>
              <a:off x="5180399" y="792000"/>
              <a:ext cx="31500" cy="4158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(a) box 75"/>
            <p:cNvSpPr/>
            <p:nvPr/>
          </p:nvSpPr>
          <p:spPr>
            <a:xfrm>
              <a:off x="2294999" y="2392200"/>
              <a:ext cx="1008000" cy="567000"/>
            </a:xfrm>
            <a:prstGeom prst="rect">
              <a:avLst/>
            </a:pr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(a) circle 76"/>
            <p:cNvSpPr/>
            <p:nvPr/>
          </p:nvSpPr>
          <p:spPr>
            <a:xfrm>
              <a:off x="3491999" y="2530800"/>
              <a:ext cx="302400" cy="3024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(a) box 77"/>
            <p:cNvSpPr/>
            <p:nvPr/>
          </p:nvSpPr>
          <p:spPr>
            <a:xfrm>
              <a:off x="341999" y="2786400"/>
              <a:ext cx="630000" cy="46800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(a) box 78"/>
            <p:cNvSpPr/>
            <p:nvPr/>
          </p:nvSpPr>
          <p:spPr>
            <a:xfrm>
              <a:off x="971999" y="2786400"/>
              <a:ext cx="630000" cy="46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(a) box 79"/>
            <p:cNvSpPr/>
            <p:nvPr/>
          </p:nvSpPr>
          <p:spPr>
            <a:xfrm>
              <a:off x="3554999" y="955800"/>
              <a:ext cx="201600" cy="88200"/>
            </a:xfrm>
            <a:prstGeom prst="rect">
              <a:avLst/>
            </a:prstGeom>
            <a:solidFill>
              <a:srgbClr val="9C9C9C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(a) box 80"/>
            <p:cNvSpPr/>
            <p:nvPr/>
          </p:nvSpPr>
          <p:spPr>
            <a:xfrm>
              <a:off x="2194199" y="1214100"/>
              <a:ext cx="107101" cy="327600"/>
            </a:xfrm>
            <a:prstGeom prst="rect">
              <a:avLst/>
            </a:prstGeom>
            <a:solidFill>
              <a:srgbClr val="9C9C9C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(a) box 81"/>
            <p:cNvSpPr/>
            <p:nvPr/>
          </p:nvSpPr>
          <p:spPr>
            <a:xfrm>
              <a:off x="2313899" y="1214100"/>
              <a:ext cx="107100" cy="327600"/>
            </a:xfrm>
            <a:prstGeom prst="rect">
              <a:avLst/>
            </a:prstGeom>
            <a:solidFill>
              <a:srgbClr val="9C9C9C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(a) circle 82"/>
            <p:cNvSpPr/>
            <p:nvPr/>
          </p:nvSpPr>
          <p:spPr>
            <a:xfrm>
              <a:off x="2809799" y="727200"/>
              <a:ext cx="28800" cy="28799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(a) circle 83"/>
            <p:cNvSpPr/>
            <p:nvPr/>
          </p:nvSpPr>
          <p:spPr>
            <a:xfrm>
              <a:off x="3137399" y="727200"/>
              <a:ext cx="28800" cy="28799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(a) box 84"/>
            <p:cNvSpPr/>
            <p:nvPr/>
          </p:nvSpPr>
          <p:spPr>
            <a:xfrm>
              <a:off x="3479399" y="930600"/>
              <a:ext cx="75600" cy="138599"/>
            </a:xfrm>
            <a:prstGeom prst="rect">
              <a:avLst/>
            </a:prstGeom>
            <a:solidFill>
              <a:srgbClr val="9C9C9C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(a) box 85"/>
            <p:cNvSpPr/>
            <p:nvPr/>
          </p:nvSpPr>
          <p:spPr>
            <a:xfrm>
              <a:off x="3756599" y="930600"/>
              <a:ext cx="75600" cy="138599"/>
            </a:xfrm>
            <a:prstGeom prst="rect">
              <a:avLst/>
            </a:prstGeom>
            <a:solidFill>
              <a:srgbClr val="9C9C9C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(a) arrow 86"/>
            <p:cNvCxnSpPr/>
            <p:nvPr/>
          </p:nvCxnSpPr>
          <p:spPr>
            <a:xfrm flipH="1">
              <a:off x="5268600" y="999900"/>
              <a:ext cx="390599" cy="0"/>
            </a:xfrm>
            <a:prstGeom prst="line">
              <a:avLst/>
            </a:prstGeom>
            <a:ln w="15240">
              <a:solidFill>
                <a:srgbClr val="1A1A1A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(a) polygon 87"/>
            <p:cNvSpPr/>
            <p:nvPr/>
          </p:nvSpPr>
          <p:spPr>
            <a:xfrm>
              <a:off x="3573899" y="2600100"/>
              <a:ext cx="163800" cy="163799"/>
            </a:xfrm>
            <a:custGeom>
              <a:avLst/>
              <a:gdLst/>
              <a:ahLst/>
              <a:cxnLst/>
              <a:rect l="l" t="t" r="r" b="b"/>
              <a:pathLst>
                <a:path w="163800" h="163799">
                  <a:moveTo>
                    <a:pt x="0" y="163799"/>
                  </a:moveTo>
                  <a:lnTo>
                    <a:pt x="0" y="0"/>
                  </a:lnTo>
                  <a:lnTo>
                    <a:pt x="163800" y="81900"/>
                  </a:lnTo>
                  <a:close/>
                </a:path>
              </a:pathLst>
            </a:custGeom>
            <a:noFill/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1" name="(a) arrow 88"/>
            <p:cNvCxnSpPr/>
            <p:nvPr/>
          </p:nvCxnSpPr>
          <p:spPr>
            <a:xfrm flipV="1">
              <a:off x="2924999" y="1900800"/>
              <a:ext cx="0" cy="126000"/>
            </a:xfrm>
            <a:prstGeom prst="line">
              <a:avLst/>
            </a:prstGeom>
            <a:ln w="12700">
              <a:solidFill>
                <a:srgbClr val="A6350F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(a) arrow 89"/>
            <p:cNvCxnSpPr/>
            <p:nvPr/>
          </p:nvCxnSpPr>
          <p:spPr>
            <a:xfrm>
              <a:off x="2799000" y="1926000"/>
              <a:ext cx="0" cy="126000"/>
            </a:xfrm>
            <a:prstGeom prst="line">
              <a:avLst/>
            </a:prstGeom>
            <a:ln w="12700">
              <a:solidFill>
                <a:srgbClr val="A6350F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(a) leader 90"/>
            <p:cNvCxnSpPr/>
            <p:nvPr/>
          </p:nvCxnSpPr>
          <p:spPr>
            <a:xfrm>
              <a:off x="2307600" y="717052"/>
              <a:ext cx="0" cy="471747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(a) label “coupling”"/>
            <p:cNvSpPr txBox="1"/>
            <p:nvPr/>
          </p:nvSpPr>
          <p:spPr>
            <a:xfrm>
              <a:off x="1927108" y="544380"/>
              <a:ext cx="76098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coupling</a:t>
              </a:r>
            </a:p>
          </p:txBody>
        </p:sp>
        <p:cxnSp>
          <p:nvCxnSpPr>
            <p:cNvPr id="95" name="(a) leader 92"/>
            <p:cNvCxnSpPr/>
            <p:nvPr/>
          </p:nvCxnSpPr>
          <p:spPr>
            <a:xfrm>
              <a:off x="3643199" y="716594"/>
              <a:ext cx="0" cy="195006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(a) label “coupling”"/>
            <p:cNvSpPr txBox="1"/>
            <p:nvPr/>
          </p:nvSpPr>
          <p:spPr>
            <a:xfrm>
              <a:off x="3262707" y="544380"/>
              <a:ext cx="76098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coupling</a:t>
              </a:r>
            </a:p>
          </p:txBody>
        </p:sp>
      </p:grpSp>
      <p:grpSp>
        <p:nvGrpSpPr>
          <p:cNvPr id="97" name="Figure 1.2 (b)"/>
          <p:cNvGrpSpPr/>
          <p:nvPr/>
        </p:nvGrpSpPr>
        <p:grpSpPr>
          <a:xfrm>
            <a:off x="2955476" y="3645459"/>
            <a:ext cx="2721723" cy="2324360"/>
            <a:chOff x="2955476" y="3645459"/>
            <a:chExt cx="2721723" cy="2324360"/>
          </a:xfrm>
        </p:grpSpPr>
        <p:sp>
          <p:nvSpPr>
            <p:cNvPr id="98" name="(b) box 01"/>
            <p:cNvSpPr/>
            <p:nvPr/>
          </p:nvSpPr>
          <p:spPr>
            <a:xfrm>
              <a:off x="3227399" y="5338799"/>
              <a:ext cx="2449800" cy="3780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(b) line 02"/>
            <p:cNvCxnSpPr/>
            <p:nvPr/>
          </p:nvCxnSpPr>
          <p:spPr>
            <a:xfrm>
              <a:off x="3227399" y="5338799"/>
              <a:ext cx="2449800" cy="0"/>
            </a:xfrm>
            <a:prstGeom prst="line">
              <a:avLst/>
            </a:prstGeom>
            <a:ln w="1651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(b) box 03"/>
            <p:cNvSpPr/>
            <p:nvPr/>
          </p:nvSpPr>
          <p:spPr>
            <a:xfrm>
              <a:off x="3277799" y="5112000"/>
              <a:ext cx="1625400" cy="226799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(b) box 04"/>
            <p:cNvSpPr/>
            <p:nvPr/>
          </p:nvSpPr>
          <p:spPr>
            <a:xfrm>
              <a:off x="3454199" y="4815900"/>
              <a:ext cx="163800" cy="2961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(b) box 05"/>
            <p:cNvSpPr/>
            <p:nvPr/>
          </p:nvSpPr>
          <p:spPr>
            <a:xfrm>
              <a:off x="4084199" y="4815900"/>
              <a:ext cx="163800" cy="2961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(b) box 06"/>
            <p:cNvSpPr/>
            <p:nvPr/>
          </p:nvSpPr>
          <p:spPr>
            <a:xfrm>
              <a:off x="3718800" y="4324499"/>
              <a:ext cx="201599" cy="756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(b) box 07"/>
            <p:cNvSpPr/>
            <p:nvPr/>
          </p:nvSpPr>
          <p:spPr>
            <a:xfrm>
              <a:off x="4399199" y="4948200"/>
              <a:ext cx="226800" cy="1638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(b) label “machine floor”"/>
            <p:cNvSpPr txBox="1"/>
            <p:nvPr/>
          </p:nvSpPr>
          <p:spPr>
            <a:xfrm>
              <a:off x="4407975" y="5370179"/>
              <a:ext cx="1208024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machine floor</a:t>
              </a:r>
            </a:p>
          </p:txBody>
        </p:sp>
        <p:sp>
          <p:nvSpPr>
            <p:cNvPr id="106" name="(b) label “high-speed motor”"/>
            <p:cNvSpPr txBox="1"/>
            <p:nvPr/>
          </p:nvSpPr>
          <p:spPr>
            <a:xfrm>
              <a:off x="2955476" y="3935260"/>
              <a:ext cx="1476248" cy="307340"/>
            </a:xfrm>
            <a:prstGeom prst="rect">
              <a:avLst/>
            </a:prstGeom>
            <a:noFill/>
          </p:spPr>
          <p:txBody>
            <a:bodyPr wrap="none" lIns="0" rIns="0" tIns="0" bIns="0" anchor="b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high-speed motor</a:t>
              </a:r>
            </a:p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30 000 r/min</a:t>
              </a:r>
            </a:p>
          </p:txBody>
        </p:sp>
        <p:sp>
          <p:nvSpPr>
            <p:cNvPr id="107" name="(b) label “compressor”"/>
            <p:cNvSpPr txBox="1"/>
            <p:nvPr/>
          </p:nvSpPr>
          <p:spPr>
            <a:xfrm>
              <a:off x="4028891" y="3645459"/>
              <a:ext cx="1118616" cy="307340"/>
            </a:xfrm>
            <a:prstGeom prst="rect">
              <a:avLst/>
            </a:prstGeom>
            <a:noFill/>
          </p:spPr>
          <p:txBody>
            <a:bodyPr wrap="none" lIns="0" rIns="0" tIns="0" bIns="0" anchor="b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compressor</a:t>
              </a:r>
            </a:p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30 000 r/min</a:t>
              </a:r>
            </a:p>
          </p:txBody>
        </p:sp>
        <p:sp>
          <p:nvSpPr>
            <p:cNvPr id="108" name="(b) label “(b) Integrated direct drive”"/>
            <p:cNvSpPr txBox="1"/>
            <p:nvPr/>
          </p:nvSpPr>
          <p:spPr>
            <a:xfrm>
              <a:off x="2992931" y="5802179"/>
              <a:ext cx="2459736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(b) Integrated direct drive</a:t>
              </a:r>
            </a:p>
          </p:txBody>
        </p:sp>
        <p:sp>
          <p:nvSpPr>
            <p:cNvPr id="109" name="(b) box 12"/>
            <p:cNvSpPr/>
            <p:nvPr/>
          </p:nvSpPr>
          <p:spPr>
            <a:xfrm>
              <a:off x="3353399" y="4400099"/>
              <a:ext cx="995401" cy="415801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0" name="(b) line 13"/>
            <p:cNvCxnSpPr/>
            <p:nvPr/>
          </p:nvCxnSpPr>
          <p:spPr>
            <a:xfrm flipV="1">
              <a:off x="3384899" y="4400099"/>
              <a:ext cx="0" cy="41580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(b) line 14"/>
            <p:cNvCxnSpPr/>
            <p:nvPr/>
          </p:nvCxnSpPr>
          <p:spPr>
            <a:xfrm flipV="1">
              <a:off x="3693600" y="4400099"/>
              <a:ext cx="0" cy="41580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(b) line 15"/>
            <p:cNvCxnSpPr/>
            <p:nvPr/>
          </p:nvCxnSpPr>
          <p:spPr>
            <a:xfrm flipV="1">
              <a:off x="4140899" y="4400099"/>
              <a:ext cx="0" cy="41580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(b) line 16"/>
            <p:cNvCxnSpPr/>
            <p:nvPr/>
          </p:nvCxnSpPr>
          <p:spPr>
            <a:xfrm flipV="1">
              <a:off x="4317299" y="4400099"/>
              <a:ext cx="0" cy="41580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(b) box 17"/>
            <p:cNvSpPr/>
            <p:nvPr/>
          </p:nvSpPr>
          <p:spPr>
            <a:xfrm>
              <a:off x="4418099" y="4066199"/>
              <a:ext cx="189000" cy="2268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(b) rounded box 18"/>
            <p:cNvSpPr/>
            <p:nvPr/>
          </p:nvSpPr>
          <p:spPr>
            <a:xfrm>
              <a:off x="4348800" y="4255200"/>
              <a:ext cx="327599" cy="705599"/>
            </a:xfrm>
            <a:prstGeom prst="roundRect">
              <a:avLst>
                <a:gd name="adj" fmla="val 34615"/>
              </a:avLst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(b) box 19"/>
            <p:cNvSpPr/>
            <p:nvPr/>
          </p:nvSpPr>
          <p:spPr>
            <a:xfrm>
              <a:off x="4374000" y="4034699"/>
              <a:ext cx="277199" cy="31500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(b) box 20"/>
            <p:cNvSpPr/>
            <p:nvPr/>
          </p:nvSpPr>
          <p:spPr>
            <a:xfrm>
              <a:off x="4676399" y="4469400"/>
              <a:ext cx="504000" cy="277199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(b) box 21"/>
            <p:cNvSpPr/>
            <p:nvPr/>
          </p:nvSpPr>
          <p:spPr>
            <a:xfrm>
              <a:off x="5180399" y="4400099"/>
              <a:ext cx="31500" cy="415801"/>
            </a:xfrm>
            <a:prstGeom prst="rect">
              <a:avLst/>
            </a:prstGeom>
            <a:solidFill>
              <a:srgbClr val="F2F2E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9" name="(b) arrow 22"/>
            <p:cNvCxnSpPr/>
            <p:nvPr/>
          </p:nvCxnSpPr>
          <p:spPr>
            <a:xfrm flipH="1">
              <a:off x="5268600" y="4607999"/>
              <a:ext cx="390599" cy="0"/>
            </a:xfrm>
            <a:prstGeom prst="line">
              <a:avLst/>
            </a:prstGeom>
            <a:ln w="15240">
              <a:solidFill>
                <a:srgbClr val="1A1A1A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Figure 1.2 (c)"/>
          <p:cNvGrpSpPr/>
          <p:nvPr/>
        </p:nvGrpSpPr>
        <p:grpSpPr>
          <a:xfrm>
            <a:off x="-166393" y="4216380"/>
            <a:ext cx="3787300" cy="1753439"/>
            <a:chOff x="-166393" y="4216380"/>
            <a:chExt cx="3787300" cy="1753439"/>
          </a:xfrm>
        </p:grpSpPr>
        <p:sp>
          <p:nvSpPr>
            <p:cNvPr id="121" name="(c) polygon 01"/>
            <p:cNvSpPr/>
            <p:nvPr/>
          </p:nvSpPr>
          <p:spPr>
            <a:xfrm>
              <a:off x="809999" y="4913999"/>
              <a:ext cx="1990801" cy="415800"/>
            </a:xfrm>
            <a:custGeom>
              <a:avLst/>
              <a:gdLst/>
              <a:ahLst/>
              <a:cxnLst/>
              <a:rect l="l" t="t" r="r" b="b"/>
              <a:pathLst>
                <a:path w="1990801" h="415800">
                  <a:moveTo>
                    <a:pt x="0" y="415800"/>
                  </a:moveTo>
                  <a:lnTo>
                    <a:pt x="0" y="0"/>
                  </a:lnTo>
                  <a:lnTo>
                    <a:pt x="1990801" y="0"/>
                  </a:lnTo>
                  <a:lnTo>
                    <a:pt x="1990801" y="415800"/>
                  </a:lnTo>
                  <a:close/>
                </a:path>
              </a:pathLst>
            </a:custGeom>
            <a:solidFill>
              <a:srgbClr val="F2F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(c) polygon 02"/>
            <p:cNvSpPr/>
            <p:nvPr/>
          </p:nvSpPr>
          <p:spPr>
            <a:xfrm>
              <a:off x="2800800" y="4913999"/>
              <a:ext cx="289800" cy="69300"/>
            </a:xfrm>
            <a:custGeom>
              <a:avLst/>
              <a:gdLst/>
              <a:ahLst/>
              <a:cxnLst/>
              <a:rect l="l" t="t" r="r" b="b"/>
              <a:pathLst>
                <a:path w="289800" h="69300">
                  <a:moveTo>
                    <a:pt x="0" y="69300"/>
                  </a:moveTo>
                  <a:lnTo>
                    <a:pt x="0" y="0"/>
                  </a:lnTo>
                  <a:lnTo>
                    <a:pt x="289800" y="0"/>
                  </a:lnTo>
                  <a:lnTo>
                    <a:pt x="289800" y="6930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(c) polygon 03"/>
            <p:cNvSpPr/>
            <p:nvPr/>
          </p:nvSpPr>
          <p:spPr>
            <a:xfrm>
              <a:off x="809999" y="4498200"/>
              <a:ext cx="1990801" cy="415799"/>
            </a:xfrm>
            <a:custGeom>
              <a:avLst/>
              <a:gdLst/>
              <a:ahLst/>
              <a:cxnLst/>
              <a:rect l="l" t="t" r="r" b="b"/>
              <a:pathLst>
                <a:path w="1990801" h="415799">
                  <a:moveTo>
                    <a:pt x="0" y="415799"/>
                  </a:moveTo>
                  <a:lnTo>
                    <a:pt x="0" y="0"/>
                  </a:lnTo>
                  <a:lnTo>
                    <a:pt x="1990801" y="0"/>
                  </a:lnTo>
                  <a:lnTo>
                    <a:pt x="1990801" y="415799"/>
                  </a:lnTo>
                  <a:close/>
                </a:path>
              </a:pathLst>
            </a:custGeom>
            <a:solidFill>
              <a:srgbClr val="DCDC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(c) label “0”"/>
            <p:cNvSpPr txBox="1"/>
            <p:nvPr/>
          </p:nvSpPr>
          <p:spPr>
            <a:xfrm>
              <a:off x="742435" y="5542979"/>
              <a:ext cx="135128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sp>
          <p:nvSpPr>
            <p:cNvPr id="125" name="(c) label “0.2 m”"/>
            <p:cNvSpPr txBox="1"/>
            <p:nvPr/>
          </p:nvSpPr>
          <p:spPr>
            <a:xfrm>
              <a:off x="1067620" y="5542979"/>
              <a:ext cx="4927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0.2 m</a:t>
              </a:r>
            </a:p>
          </p:txBody>
        </p:sp>
        <p:sp>
          <p:nvSpPr>
            <p:cNvPr id="126" name="(c) label “(c) The motor of (b), in hal”"/>
            <p:cNvSpPr txBox="1"/>
            <p:nvPr/>
          </p:nvSpPr>
          <p:spPr>
            <a:xfrm>
              <a:off x="267091" y="5802179"/>
              <a:ext cx="3353816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(c) The motor of (b), in half section</a:t>
              </a:r>
            </a:p>
          </p:txBody>
        </p:sp>
        <p:sp>
          <p:nvSpPr>
            <p:cNvPr id="127" name="(c) line 07"/>
            <p:cNvSpPr/>
            <p:nvPr/>
          </p:nvSpPr>
          <p:spPr>
            <a:xfrm>
              <a:off x="809999" y="4913999"/>
              <a:ext cx="1990801" cy="415800"/>
            </a:xfrm>
            <a:custGeom>
              <a:avLst/>
              <a:gdLst/>
              <a:ahLst/>
              <a:cxnLst/>
              <a:rect l="l" t="t" r="r" b="b"/>
              <a:pathLst>
                <a:path w="1990801" h="415800">
                  <a:moveTo>
                    <a:pt x="0" y="0"/>
                  </a:moveTo>
                  <a:lnTo>
                    <a:pt x="0" y="415800"/>
                  </a:lnTo>
                  <a:lnTo>
                    <a:pt x="1990801" y="415800"/>
                  </a:lnTo>
                  <a:lnTo>
                    <a:pt x="1990801" y="0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(c) line 08"/>
            <p:cNvSpPr/>
            <p:nvPr/>
          </p:nvSpPr>
          <p:spPr>
            <a:xfrm>
              <a:off x="2800800" y="4913999"/>
              <a:ext cx="289800" cy="69300"/>
            </a:xfrm>
            <a:custGeom>
              <a:avLst/>
              <a:gdLst/>
              <a:ahLst/>
              <a:cxnLst/>
              <a:rect l="l" t="t" r="r" b="b"/>
              <a:pathLst>
                <a:path w="289800" h="69300">
                  <a:moveTo>
                    <a:pt x="0" y="0"/>
                  </a:moveTo>
                  <a:lnTo>
                    <a:pt x="0" y="69300"/>
                  </a:lnTo>
                  <a:lnTo>
                    <a:pt x="289800" y="69300"/>
                  </a:lnTo>
                  <a:lnTo>
                    <a:pt x="289800" y="0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(c) line 09"/>
            <p:cNvSpPr/>
            <p:nvPr/>
          </p:nvSpPr>
          <p:spPr>
            <a:xfrm>
              <a:off x="809999" y="4498200"/>
              <a:ext cx="1990801" cy="415799"/>
            </a:xfrm>
            <a:custGeom>
              <a:avLst/>
              <a:gdLst/>
              <a:ahLst/>
              <a:cxnLst/>
              <a:rect l="l" t="t" r="r" b="b"/>
              <a:pathLst>
                <a:path w="1990801" h="415799">
                  <a:moveTo>
                    <a:pt x="0" y="415799"/>
                  </a:moveTo>
                  <a:lnTo>
                    <a:pt x="0" y="0"/>
                  </a:lnTo>
                  <a:lnTo>
                    <a:pt x="1990801" y="0"/>
                  </a:lnTo>
                  <a:lnTo>
                    <a:pt x="1990801" y="415799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(c) polygon 10"/>
            <p:cNvSpPr/>
            <p:nvPr/>
          </p:nvSpPr>
          <p:spPr>
            <a:xfrm>
              <a:off x="2826000" y="4983299"/>
              <a:ext cx="252000" cy="283501"/>
            </a:xfrm>
            <a:custGeom>
              <a:avLst/>
              <a:gdLst/>
              <a:ahLst/>
              <a:cxnLst/>
              <a:rect l="l" t="t" r="r" b="b"/>
              <a:pathLst>
                <a:path w="252000" h="283501">
                  <a:moveTo>
                    <a:pt x="0" y="0"/>
                  </a:moveTo>
                  <a:lnTo>
                    <a:pt x="0" y="283501"/>
                  </a:lnTo>
                  <a:lnTo>
                    <a:pt x="30239" y="283501"/>
                  </a:lnTo>
                  <a:lnTo>
                    <a:pt x="37800" y="245700"/>
                  </a:lnTo>
                  <a:lnTo>
                    <a:pt x="57959" y="207901"/>
                  </a:lnTo>
                  <a:lnTo>
                    <a:pt x="93239" y="175140"/>
                  </a:lnTo>
                  <a:lnTo>
                    <a:pt x="138599" y="154980"/>
                  </a:lnTo>
                  <a:lnTo>
                    <a:pt x="196560" y="142380"/>
                  </a:lnTo>
                  <a:lnTo>
                    <a:pt x="252000" y="137341"/>
                  </a:lnTo>
                  <a:lnTo>
                    <a:pt x="252000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(c) polygon 11"/>
            <p:cNvSpPr/>
            <p:nvPr/>
          </p:nvSpPr>
          <p:spPr>
            <a:xfrm>
              <a:off x="872999" y="4528439"/>
              <a:ext cx="1927801" cy="385560"/>
            </a:xfrm>
            <a:custGeom>
              <a:avLst/>
              <a:gdLst/>
              <a:ahLst/>
              <a:cxnLst/>
              <a:rect l="l" t="t" r="r" b="b"/>
              <a:pathLst>
                <a:path w="1927801" h="385560">
                  <a:moveTo>
                    <a:pt x="0" y="385560"/>
                  </a:moveTo>
                  <a:lnTo>
                    <a:pt x="0" y="0"/>
                  </a:lnTo>
                  <a:lnTo>
                    <a:pt x="1864800" y="0"/>
                  </a:lnTo>
                  <a:lnTo>
                    <a:pt x="1864800" y="297360"/>
                  </a:lnTo>
                  <a:lnTo>
                    <a:pt x="1927801" y="297360"/>
                  </a:lnTo>
                  <a:lnTo>
                    <a:pt x="1927801" y="3855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(c) line 12"/>
            <p:cNvSpPr/>
            <p:nvPr/>
          </p:nvSpPr>
          <p:spPr>
            <a:xfrm>
              <a:off x="2826000" y="4983299"/>
              <a:ext cx="252000" cy="283501"/>
            </a:xfrm>
            <a:custGeom>
              <a:avLst/>
              <a:gdLst/>
              <a:ahLst/>
              <a:cxnLst/>
              <a:rect l="l" t="t" r="r" b="b"/>
              <a:pathLst>
                <a:path w="252000" h="283501">
                  <a:moveTo>
                    <a:pt x="0" y="0"/>
                  </a:moveTo>
                  <a:lnTo>
                    <a:pt x="0" y="283501"/>
                  </a:lnTo>
                  <a:lnTo>
                    <a:pt x="30239" y="283501"/>
                  </a:lnTo>
                  <a:lnTo>
                    <a:pt x="37800" y="245700"/>
                  </a:lnTo>
                  <a:lnTo>
                    <a:pt x="57959" y="207901"/>
                  </a:lnTo>
                  <a:lnTo>
                    <a:pt x="93239" y="175140"/>
                  </a:lnTo>
                  <a:lnTo>
                    <a:pt x="138599" y="154980"/>
                  </a:lnTo>
                  <a:lnTo>
                    <a:pt x="196560" y="142380"/>
                  </a:lnTo>
                  <a:lnTo>
                    <a:pt x="252000" y="137341"/>
                  </a:lnTo>
                  <a:lnTo>
                    <a:pt x="252000" y="0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(c) line 13"/>
            <p:cNvSpPr/>
            <p:nvPr/>
          </p:nvSpPr>
          <p:spPr>
            <a:xfrm>
              <a:off x="872999" y="4528439"/>
              <a:ext cx="1927801" cy="385560"/>
            </a:xfrm>
            <a:custGeom>
              <a:avLst/>
              <a:gdLst/>
              <a:ahLst/>
              <a:cxnLst/>
              <a:rect l="l" t="t" r="r" b="b"/>
              <a:pathLst>
                <a:path w="1927801" h="385560">
                  <a:moveTo>
                    <a:pt x="0" y="385560"/>
                  </a:moveTo>
                  <a:lnTo>
                    <a:pt x="0" y="0"/>
                  </a:lnTo>
                  <a:lnTo>
                    <a:pt x="1864800" y="0"/>
                  </a:lnTo>
                  <a:lnTo>
                    <a:pt x="1864800" y="297360"/>
                  </a:lnTo>
                  <a:lnTo>
                    <a:pt x="1927801" y="297360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4" name="(c) line 14"/>
            <p:cNvCxnSpPr/>
            <p:nvPr/>
          </p:nvCxnSpPr>
          <p:spPr>
            <a:xfrm flipV="1">
              <a:off x="872999" y="4913999"/>
              <a:ext cx="0" cy="415800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(c) line 15"/>
            <p:cNvCxnSpPr/>
            <p:nvPr/>
          </p:nvCxnSpPr>
          <p:spPr>
            <a:xfrm flipV="1">
              <a:off x="1490400" y="4913999"/>
              <a:ext cx="0" cy="415800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(c) line 16"/>
            <p:cNvCxnSpPr/>
            <p:nvPr/>
          </p:nvCxnSpPr>
          <p:spPr>
            <a:xfrm flipV="1">
              <a:off x="2385000" y="4913999"/>
              <a:ext cx="0" cy="415800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(c) line 17"/>
            <p:cNvCxnSpPr/>
            <p:nvPr/>
          </p:nvCxnSpPr>
          <p:spPr>
            <a:xfrm flipV="1">
              <a:off x="2737799" y="4913999"/>
              <a:ext cx="0" cy="415800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(c) box 18"/>
            <p:cNvSpPr/>
            <p:nvPr/>
          </p:nvSpPr>
          <p:spPr>
            <a:xfrm>
              <a:off x="872999" y="4528439"/>
              <a:ext cx="617401" cy="133561"/>
            </a:xfrm>
            <a:prstGeom prst="rect">
              <a:avLst/>
            </a:prstGeom>
            <a:solidFill>
              <a:srgbClr val="DCDCD6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(c) box 19"/>
            <p:cNvSpPr/>
            <p:nvPr/>
          </p:nvSpPr>
          <p:spPr>
            <a:xfrm>
              <a:off x="2385000" y="4528439"/>
              <a:ext cx="352799" cy="133561"/>
            </a:xfrm>
            <a:prstGeom prst="rect">
              <a:avLst/>
            </a:prstGeom>
            <a:solidFill>
              <a:srgbClr val="DCDCD6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(c) box 20"/>
            <p:cNvSpPr/>
            <p:nvPr/>
          </p:nvSpPr>
          <p:spPr>
            <a:xfrm>
              <a:off x="910799" y="4662000"/>
              <a:ext cx="55441" cy="120960"/>
            </a:xfrm>
            <a:prstGeom prst="rect">
              <a:avLst/>
            </a:prstGeom>
            <a:solidFill>
              <a:srgbClr val="DCDCD6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(c) box 21"/>
            <p:cNvSpPr/>
            <p:nvPr/>
          </p:nvSpPr>
          <p:spPr>
            <a:xfrm>
              <a:off x="2644559" y="4662000"/>
              <a:ext cx="55440" cy="120960"/>
            </a:xfrm>
            <a:prstGeom prst="rect">
              <a:avLst/>
            </a:prstGeom>
            <a:solidFill>
              <a:srgbClr val="DCDCD6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(c) box 22"/>
            <p:cNvSpPr/>
            <p:nvPr/>
          </p:nvSpPr>
          <p:spPr>
            <a:xfrm>
              <a:off x="809999" y="5471999"/>
              <a:ext cx="252001" cy="46800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(c) box 23"/>
            <p:cNvSpPr/>
            <p:nvPr/>
          </p:nvSpPr>
          <p:spPr>
            <a:xfrm>
              <a:off x="1062000" y="5471999"/>
              <a:ext cx="252000" cy="46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(c) box 24"/>
            <p:cNvSpPr/>
            <p:nvPr/>
          </p:nvSpPr>
          <p:spPr>
            <a:xfrm>
              <a:off x="1565999" y="4528439"/>
              <a:ext cx="756000" cy="70561"/>
            </a:xfrm>
            <a:prstGeom prst="rect">
              <a:avLst/>
            </a:prstGeom>
            <a:solidFill>
              <a:srgbClr val="D7E4F0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5" name="(c) line 25"/>
            <p:cNvCxnSpPr/>
            <p:nvPr/>
          </p:nvCxnSpPr>
          <p:spPr>
            <a:xfrm flipV="1">
              <a:off x="1660500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(c) line 26"/>
            <p:cNvCxnSpPr/>
            <p:nvPr/>
          </p:nvCxnSpPr>
          <p:spPr>
            <a:xfrm flipV="1">
              <a:off x="1754999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(c) line 27"/>
            <p:cNvCxnSpPr/>
            <p:nvPr/>
          </p:nvCxnSpPr>
          <p:spPr>
            <a:xfrm flipV="1">
              <a:off x="1849499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(c) line 28"/>
            <p:cNvCxnSpPr/>
            <p:nvPr/>
          </p:nvCxnSpPr>
          <p:spPr>
            <a:xfrm flipV="1">
              <a:off x="1943999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(c) line 29"/>
            <p:cNvCxnSpPr/>
            <p:nvPr/>
          </p:nvCxnSpPr>
          <p:spPr>
            <a:xfrm flipV="1">
              <a:off x="2038499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(c) line 30"/>
            <p:cNvCxnSpPr/>
            <p:nvPr/>
          </p:nvCxnSpPr>
          <p:spPr>
            <a:xfrm flipV="1">
              <a:off x="2132999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(c) line 31"/>
            <p:cNvCxnSpPr/>
            <p:nvPr/>
          </p:nvCxnSpPr>
          <p:spPr>
            <a:xfrm flipV="1">
              <a:off x="2227500" y="4528439"/>
              <a:ext cx="0" cy="70561"/>
            </a:xfrm>
            <a:prstGeom prst="line">
              <a:avLst/>
            </a:prstGeom>
            <a:ln w="6350">
              <a:solidFill>
                <a:srgbClr val="1A1A1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(c) polygon 32"/>
            <p:cNvSpPr/>
            <p:nvPr/>
          </p:nvSpPr>
          <p:spPr>
            <a:xfrm>
              <a:off x="898199" y="4844700"/>
              <a:ext cx="2192401" cy="69299"/>
            </a:xfrm>
            <a:custGeom>
              <a:avLst/>
              <a:gdLst/>
              <a:ahLst/>
              <a:cxnLst/>
              <a:rect l="l" t="t" r="r" b="b"/>
              <a:pathLst>
                <a:path w="2192401" h="69299">
                  <a:moveTo>
                    <a:pt x="0" y="69299"/>
                  </a:moveTo>
                  <a:lnTo>
                    <a:pt x="0" y="0"/>
                  </a:lnTo>
                  <a:lnTo>
                    <a:pt x="2192401" y="0"/>
                  </a:lnTo>
                  <a:lnTo>
                    <a:pt x="2192401" y="69299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(c) line 33"/>
            <p:cNvSpPr/>
            <p:nvPr/>
          </p:nvSpPr>
          <p:spPr>
            <a:xfrm>
              <a:off x="898199" y="4844700"/>
              <a:ext cx="2192401" cy="69299"/>
            </a:xfrm>
            <a:custGeom>
              <a:avLst/>
              <a:gdLst/>
              <a:ahLst/>
              <a:cxnLst/>
              <a:rect l="l" t="t" r="r" b="b"/>
              <a:pathLst>
                <a:path w="2192401" h="69299">
                  <a:moveTo>
                    <a:pt x="0" y="69299"/>
                  </a:moveTo>
                  <a:lnTo>
                    <a:pt x="0" y="0"/>
                  </a:lnTo>
                  <a:lnTo>
                    <a:pt x="2192401" y="0"/>
                  </a:lnTo>
                  <a:lnTo>
                    <a:pt x="2192401" y="69299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(c) box 34"/>
            <p:cNvSpPr/>
            <p:nvPr/>
          </p:nvSpPr>
          <p:spPr>
            <a:xfrm>
              <a:off x="910799" y="4782960"/>
              <a:ext cx="55441" cy="5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(c) box 35"/>
            <p:cNvSpPr/>
            <p:nvPr/>
          </p:nvSpPr>
          <p:spPr>
            <a:xfrm>
              <a:off x="2644559" y="4782960"/>
              <a:ext cx="55440" cy="5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(c) box 36"/>
            <p:cNvSpPr/>
            <p:nvPr/>
          </p:nvSpPr>
          <p:spPr>
            <a:xfrm>
              <a:off x="998999" y="4662000"/>
              <a:ext cx="88201" cy="1612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(c) box 37"/>
            <p:cNvSpPr/>
            <p:nvPr/>
          </p:nvSpPr>
          <p:spPr>
            <a:xfrm>
              <a:off x="1140119" y="4662000"/>
              <a:ext cx="88200" cy="1612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(c) box 38"/>
            <p:cNvSpPr/>
            <p:nvPr/>
          </p:nvSpPr>
          <p:spPr>
            <a:xfrm>
              <a:off x="1089719" y="4672079"/>
              <a:ext cx="47881" cy="172621"/>
            </a:xfrm>
            <a:prstGeom prst="rect">
              <a:avLst/>
            </a:prstGeom>
            <a:solidFill>
              <a:srgbClr val="CFCFCF"/>
            </a:solidFill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(c) box 39"/>
            <p:cNvSpPr/>
            <p:nvPr/>
          </p:nvSpPr>
          <p:spPr>
            <a:xfrm>
              <a:off x="1288800" y="4662000"/>
              <a:ext cx="138599" cy="1436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(c) box 40"/>
            <p:cNvSpPr/>
            <p:nvPr/>
          </p:nvSpPr>
          <p:spPr>
            <a:xfrm>
              <a:off x="1278719" y="4810680"/>
              <a:ext cx="158760" cy="340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(c) box 41"/>
            <p:cNvSpPr/>
            <p:nvPr/>
          </p:nvSpPr>
          <p:spPr>
            <a:xfrm>
              <a:off x="2435399" y="4662000"/>
              <a:ext cx="138600" cy="1436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(c) box 42"/>
            <p:cNvSpPr/>
            <p:nvPr/>
          </p:nvSpPr>
          <p:spPr>
            <a:xfrm>
              <a:off x="2425319" y="4810680"/>
              <a:ext cx="158761" cy="340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(c) box 43"/>
            <p:cNvSpPr/>
            <p:nvPr/>
          </p:nvSpPr>
          <p:spPr>
            <a:xfrm>
              <a:off x="1641600" y="4599000"/>
              <a:ext cx="604799" cy="153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(c) polygon 44"/>
            <p:cNvSpPr/>
            <p:nvPr/>
          </p:nvSpPr>
          <p:spPr>
            <a:xfrm>
              <a:off x="1641600" y="4760280"/>
              <a:ext cx="604799" cy="153719"/>
            </a:xfrm>
            <a:custGeom>
              <a:avLst/>
              <a:gdLst/>
              <a:ahLst/>
              <a:cxnLst/>
              <a:rect l="l" t="t" r="r" b="b"/>
              <a:pathLst>
                <a:path w="604799" h="153719">
                  <a:moveTo>
                    <a:pt x="0" y="153719"/>
                  </a:moveTo>
                  <a:lnTo>
                    <a:pt x="0" y="0"/>
                  </a:lnTo>
                  <a:lnTo>
                    <a:pt x="604799" y="0"/>
                  </a:lnTo>
                  <a:lnTo>
                    <a:pt x="604799" y="153719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(c) line 45"/>
            <p:cNvSpPr/>
            <p:nvPr/>
          </p:nvSpPr>
          <p:spPr>
            <a:xfrm>
              <a:off x="1641600" y="4760280"/>
              <a:ext cx="604799" cy="153719"/>
            </a:xfrm>
            <a:custGeom>
              <a:avLst/>
              <a:gdLst/>
              <a:ahLst/>
              <a:cxnLst/>
              <a:rect l="l" t="t" r="r" b="b"/>
              <a:pathLst>
                <a:path w="604799" h="153719">
                  <a:moveTo>
                    <a:pt x="0" y="153719"/>
                  </a:moveTo>
                  <a:lnTo>
                    <a:pt x="0" y="0"/>
                  </a:lnTo>
                  <a:lnTo>
                    <a:pt x="604799" y="0"/>
                  </a:lnTo>
                  <a:lnTo>
                    <a:pt x="604799" y="153719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6" name="(c) line 46"/>
            <p:cNvCxnSpPr/>
            <p:nvPr/>
          </p:nvCxnSpPr>
          <p:spPr>
            <a:xfrm flipV="1">
              <a:off x="130265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(c) line 47"/>
            <p:cNvCxnSpPr/>
            <p:nvPr/>
          </p:nvCxnSpPr>
          <p:spPr>
            <a:xfrm flipV="1">
              <a:off x="133037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(c) line 48"/>
            <p:cNvCxnSpPr/>
            <p:nvPr/>
          </p:nvCxnSpPr>
          <p:spPr>
            <a:xfrm flipV="1">
              <a:off x="135809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(c) line 49"/>
            <p:cNvCxnSpPr/>
            <p:nvPr/>
          </p:nvCxnSpPr>
          <p:spPr>
            <a:xfrm flipV="1">
              <a:off x="1385820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(c) line 50"/>
            <p:cNvCxnSpPr/>
            <p:nvPr/>
          </p:nvCxnSpPr>
          <p:spPr>
            <a:xfrm flipV="1">
              <a:off x="141353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(c) line 51"/>
            <p:cNvCxnSpPr/>
            <p:nvPr/>
          </p:nvCxnSpPr>
          <p:spPr>
            <a:xfrm flipV="1">
              <a:off x="129194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(c) line 52"/>
            <p:cNvCxnSpPr/>
            <p:nvPr/>
          </p:nvCxnSpPr>
          <p:spPr>
            <a:xfrm flipV="1">
              <a:off x="1318410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(c) line 53"/>
            <p:cNvCxnSpPr/>
            <p:nvPr/>
          </p:nvCxnSpPr>
          <p:spPr>
            <a:xfrm flipV="1">
              <a:off x="134486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(c) line 54"/>
            <p:cNvCxnSpPr/>
            <p:nvPr/>
          </p:nvCxnSpPr>
          <p:spPr>
            <a:xfrm flipV="1">
              <a:off x="137132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(c) line 55"/>
            <p:cNvCxnSpPr/>
            <p:nvPr/>
          </p:nvCxnSpPr>
          <p:spPr>
            <a:xfrm flipV="1">
              <a:off x="139778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(c) line 56"/>
            <p:cNvCxnSpPr/>
            <p:nvPr/>
          </p:nvCxnSpPr>
          <p:spPr>
            <a:xfrm flipV="1">
              <a:off x="142424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(c) line 57"/>
            <p:cNvCxnSpPr/>
            <p:nvPr/>
          </p:nvCxnSpPr>
          <p:spPr>
            <a:xfrm flipV="1">
              <a:off x="244925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(c) line 58"/>
            <p:cNvCxnSpPr/>
            <p:nvPr/>
          </p:nvCxnSpPr>
          <p:spPr>
            <a:xfrm flipV="1">
              <a:off x="247697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(c) line 59"/>
            <p:cNvCxnSpPr/>
            <p:nvPr/>
          </p:nvCxnSpPr>
          <p:spPr>
            <a:xfrm flipV="1">
              <a:off x="2504700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(c) line 60"/>
            <p:cNvCxnSpPr/>
            <p:nvPr/>
          </p:nvCxnSpPr>
          <p:spPr>
            <a:xfrm flipV="1">
              <a:off x="253241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(c) line 61"/>
            <p:cNvCxnSpPr/>
            <p:nvPr/>
          </p:nvCxnSpPr>
          <p:spPr>
            <a:xfrm flipV="1">
              <a:off x="2560139" y="4662000"/>
              <a:ext cx="0" cy="14364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(c) line 62"/>
            <p:cNvCxnSpPr/>
            <p:nvPr/>
          </p:nvCxnSpPr>
          <p:spPr>
            <a:xfrm flipV="1">
              <a:off x="243854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(c) line 63"/>
            <p:cNvCxnSpPr/>
            <p:nvPr/>
          </p:nvCxnSpPr>
          <p:spPr>
            <a:xfrm flipV="1">
              <a:off x="246500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(c) line 64"/>
            <p:cNvCxnSpPr/>
            <p:nvPr/>
          </p:nvCxnSpPr>
          <p:spPr>
            <a:xfrm flipV="1">
              <a:off x="249146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(c) line 65"/>
            <p:cNvCxnSpPr/>
            <p:nvPr/>
          </p:nvCxnSpPr>
          <p:spPr>
            <a:xfrm flipV="1">
              <a:off x="251792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(c) line 66"/>
            <p:cNvCxnSpPr/>
            <p:nvPr/>
          </p:nvCxnSpPr>
          <p:spPr>
            <a:xfrm flipV="1">
              <a:off x="2544389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(c) line 67"/>
            <p:cNvCxnSpPr/>
            <p:nvPr/>
          </p:nvCxnSpPr>
          <p:spPr>
            <a:xfrm flipV="1">
              <a:off x="2570850" y="4810680"/>
              <a:ext cx="0" cy="34020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(c) line 68"/>
            <p:cNvCxnSpPr/>
            <p:nvPr/>
          </p:nvCxnSpPr>
          <p:spPr>
            <a:xfrm flipV="1">
              <a:off x="1659388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(c) line 69"/>
            <p:cNvCxnSpPr/>
            <p:nvPr/>
          </p:nvCxnSpPr>
          <p:spPr>
            <a:xfrm flipV="1">
              <a:off x="1694964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(c) line 70"/>
            <p:cNvCxnSpPr/>
            <p:nvPr/>
          </p:nvCxnSpPr>
          <p:spPr>
            <a:xfrm flipV="1">
              <a:off x="1730541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(c) line 71"/>
            <p:cNvCxnSpPr/>
            <p:nvPr/>
          </p:nvCxnSpPr>
          <p:spPr>
            <a:xfrm flipV="1">
              <a:off x="1766117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(c) line 72"/>
            <p:cNvCxnSpPr/>
            <p:nvPr/>
          </p:nvCxnSpPr>
          <p:spPr>
            <a:xfrm flipV="1">
              <a:off x="1801694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(c) line 73"/>
            <p:cNvCxnSpPr/>
            <p:nvPr/>
          </p:nvCxnSpPr>
          <p:spPr>
            <a:xfrm flipV="1">
              <a:off x="1837270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(c) line 74"/>
            <p:cNvCxnSpPr/>
            <p:nvPr/>
          </p:nvCxnSpPr>
          <p:spPr>
            <a:xfrm flipV="1">
              <a:off x="1872847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(c) line 75"/>
            <p:cNvCxnSpPr/>
            <p:nvPr/>
          </p:nvCxnSpPr>
          <p:spPr>
            <a:xfrm flipV="1">
              <a:off x="1908423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(c) line 76"/>
            <p:cNvCxnSpPr/>
            <p:nvPr/>
          </p:nvCxnSpPr>
          <p:spPr>
            <a:xfrm flipV="1">
              <a:off x="1943999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(c) line 77"/>
            <p:cNvCxnSpPr/>
            <p:nvPr/>
          </p:nvCxnSpPr>
          <p:spPr>
            <a:xfrm flipV="1">
              <a:off x="1979576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(c) line 78"/>
            <p:cNvCxnSpPr/>
            <p:nvPr/>
          </p:nvCxnSpPr>
          <p:spPr>
            <a:xfrm flipV="1">
              <a:off x="2015152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(c) line 79"/>
            <p:cNvCxnSpPr/>
            <p:nvPr/>
          </p:nvCxnSpPr>
          <p:spPr>
            <a:xfrm flipV="1">
              <a:off x="2050729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(c) line 80"/>
            <p:cNvCxnSpPr/>
            <p:nvPr/>
          </p:nvCxnSpPr>
          <p:spPr>
            <a:xfrm flipV="1">
              <a:off x="2086305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(c) line 81"/>
            <p:cNvCxnSpPr/>
            <p:nvPr/>
          </p:nvCxnSpPr>
          <p:spPr>
            <a:xfrm flipV="1">
              <a:off x="2121882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(c) line 82"/>
            <p:cNvCxnSpPr/>
            <p:nvPr/>
          </p:nvCxnSpPr>
          <p:spPr>
            <a:xfrm flipV="1">
              <a:off x="2157458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(c) line 83"/>
            <p:cNvCxnSpPr/>
            <p:nvPr/>
          </p:nvCxnSpPr>
          <p:spPr>
            <a:xfrm flipV="1">
              <a:off x="2193035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(c) line 84"/>
            <p:cNvCxnSpPr/>
            <p:nvPr/>
          </p:nvCxnSpPr>
          <p:spPr>
            <a:xfrm flipV="1">
              <a:off x="2228611" y="4599000"/>
              <a:ext cx="0" cy="153719"/>
            </a:xfrm>
            <a:prstGeom prst="line">
              <a:avLst/>
            </a:prstGeom>
            <a:ln w="508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(c) circle 85"/>
            <p:cNvSpPr/>
            <p:nvPr/>
          </p:nvSpPr>
          <p:spPr>
            <a:xfrm>
              <a:off x="922140" y="4793039"/>
              <a:ext cx="32759" cy="3276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(c) circle 86"/>
            <p:cNvSpPr/>
            <p:nvPr/>
          </p:nvSpPr>
          <p:spPr>
            <a:xfrm>
              <a:off x="2655899" y="4793039"/>
              <a:ext cx="32760" cy="3276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(c) box 87"/>
            <p:cNvSpPr/>
            <p:nvPr/>
          </p:nvSpPr>
          <p:spPr>
            <a:xfrm>
              <a:off x="1288800" y="4662000"/>
              <a:ext cx="138599" cy="143640"/>
            </a:xfrm>
            <a:prstGeom prst="rect">
              <a:avLst/>
            </a:pr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(c) box 88"/>
            <p:cNvSpPr/>
            <p:nvPr/>
          </p:nvSpPr>
          <p:spPr>
            <a:xfrm>
              <a:off x="1278719" y="4810680"/>
              <a:ext cx="158760" cy="34020"/>
            </a:xfrm>
            <a:prstGeom prst="rect">
              <a:avLst/>
            </a:pr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(c) box 89"/>
            <p:cNvSpPr/>
            <p:nvPr/>
          </p:nvSpPr>
          <p:spPr>
            <a:xfrm>
              <a:off x="2435399" y="4662000"/>
              <a:ext cx="138600" cy="143640"/>
            </a:xfrm>
            <a:prstGeom prst="rect">
              <a:avLst/>
            </a:pr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(c) box 90"/>
            <p:cNvSpPr/>
            <p:nvPr/>
          </p:nvSpPr>
          <p:spPr>
            <a:xfrm>
              <a:off x="2425319" y="4810680"/>
              <a:ext cx="158761" cy="34020"/>
            </a:xfrm>
            <a:prstGeom prst="rect">
              <a:avLst/>
            </a:pr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(c) box 91"/>
            <p:cNvSpPr/>
            <p:nvPr/>
          </p:nvSpPr>
          <p:spPr>
            <a:xfrm>
              <a:off x="1641600" y="4599000"/>
              <a:ext cx="604799" cy="153719"/>
            </a:xfrm>
            <a:prstGeom prst="rect">
              <a:avLst/>
            </a:pr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(c) box 92"/>
            <p:cNvSpPr/>
            <p:nvPr/>
          </p:nvSpPr>
          <p:spPr>
            <a:xfrm>
              <a:off x="1019159" y="4707359"/>
              <a:ext cx="47880" cy="68040"/>
            </a:xfrm>
            <a:prstGeom prst="rect">
              <a:avLst/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(c) box 93"/>
            <p:cNvSpPr/>
            <p:nvPr/>
          </p:nvSpPr>
          <p:spPr>
            <a:xfrm>
              <a:off x="1160279" y="4707359"/>
              <a:ext cx="47880" cy="68040"/>
            </a:xfrm>
            <a:prstGeom prst="rect">
              <a:avLst/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(c) rounded box 94"/>
            <p:cNvSpPr/>
            <p:nvPr/>
          </p:nvSpPr>
          <p:spPr>
            <a:xfrm>
              <a:off x="1528199" y="4624199"/>
              <a:ext cx="113400" cy="108360"/>
            </a:xfrm>
            <a:prstGeom prst="roundRect">
              <a:avLst>
                <a:gd name="adj" fmla="val 27906"/>
              </a:avLst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(c) rounded box 95"/>
            <p:cNvSpPr/>
            <p:nvPr/>
          </p:nvSpPr>
          <p:spPr>
            <a:xfrm>
              <a:off x="2246399" y="4624199"/>
              <a:ext cx="113400" cy="108360"/>
            </a:xfrm>
            <a:prstGeom prst="roundRect">
              <a:avLst>
                <a:gd name="adj" fmla="val 27906"/>
              </a:avLst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(c) box 96"/>
            <p:cNvSpPr/>
            <p:nvPr/>
          </p:nvSpPr>
          <p:spPr>
            <a:xfrm>
              <a:off x="1266120" y="4699799"/>
              <a:ext cx="22680" cy="83161"/>
            </a:xfrm>
            <a:prstGeom prst="rect">
              <a:avLst/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(c) box 97"/>
            <p:cNvSpPr/>
            <p:nvPr/>
          </p:nvSpPr>
          <p:spPr>
            <a:xfrm>
              <a:off x="1427399" y="4699799"/>
              <a:ext cx="22680" cy="83161"/>
            </a:xfrm>
            <a:prstGeom prst="rect">
              <a:avLst/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(c) box 98"/>
            <p:cNvSpPr/>
            <p:nvPr/>
          </p:nvSpPr>
          <p:spPr>
            <a:xfrm>
              <a:off x="2412719" y="4699799"/>
              <a:ext cx="22680" cy="83161"/>
            </a:xfrm>
            <a:prstGeom prst="rect">
              <a:avLst/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(c) box 99"/>
            <p:cNvSpPr/>
            <p:nvPr/>
          </p:nvSpPr>
          <p:spPr>
            <a:xfrm>
              <a:off x="2573999" y="4699799"/>
              <a:ext cx="22681" cy="83161"/>
            </a:xfrm>
            <a:prstGeom prst="rect">
              <a:avLst/>
            </a:prstGeom>
            <a:solidFill>
              <a:srgbClr val="C9A227"/>
            </a:solidFill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(c) polygon 100"/>
            <p:cNvSpPr/>
            <p:nvPr/>
          </p:nvSpPr>
          <p:spPr>
            <a:xfrm>
              <a:off x="2826000" y="4561199"/>
              <a:ext cx="252000" cy="283501"/>
            </a:xfrm>
            <a:custGeom>
              <a:avLst/>
              <a:gdLst/>
              <a:ahLst/>
              <a:cxnLst/>
              <a:rect l="l" t="t" r="r" b="b"/>
              <a:pathLst>
                <a:path w="252000" h="283501">
                  <a:moveTo>
                    <a:pt x="0" y="283501"/>
                  </a:moveTo>
                  <a:lnTo>
                    <a:pt x="0" y="0"/>
                  </a:lnTo>
                  <a:lnTo>
                    <a:pt x="30239" y="0"/>
                  </a:lnTo>
                  <a:lnTo>
                    <a:pt x="37800" y="37801"/>
                  </a:lnTo>
                  <a:lnTo>
                    <a:pt x="57959" y="75601"/>
                  </a:lnTo>
                  <a:lnTo>
                    <a:pt x="93239" y="108361"/>
                  </a:lnTo>
                  <a:lnTo>
                    <a:pt x="138599" y="128521"/>
                  </a:lnTo>
                  <a:lnTo>
                    <a:pt x="196560" y="141120"/>
                  </a:lnTo>
                  <a:lnTo>
                    <a:pt x="252000" y="146160"/>
                  </a:lnTo>
                  <a:lnTo>
                    <a:pt x="252000" y="283501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(c) line 101"/>
            <p:cNvSpPr/>
            <p:nvPr/>
          </p:nvSpPr>
          <p:spPr>
            <a:xfrm>
              <a:off x="2826000" y="4561199"/>
              <a:ext cx="252000" cy="283501"/>
            </a:xfrm>
            <a:custGeom>
              <a:avLst/>
              <a:gdLst/>
              <a:ahLst/>
              <a:cxnLst/>
              <a:rect l="l" t="t" r="r" b="b"/>
              <a:pathLst>
                <a:path w="252000" h="283501">
                  <a:moveTo>
                    <a:pt x="0" y="283501"/>
                  </a:moveTo>
                  <a:lnTo>
                    <a:pt x="0" y="0"/>
                  </a:lnTo>
                  <a:lnTo>
                    <a:pt x="30239" y="0"/>
                  </a:lnTo>
                  <a:lnTo>
                    <a:pt x="37800" y="37801"/>
                  </a:lnTo>
                  <a:lnTo>
                    <a:pt x="57959" y="75601"/>
                  </a:lnTo>
                  <a:lnTo>
                    <a:pt x="93239" y="108361"/>
                  </a:lnTo>
                  <a:lnTo>
                    <a:pt x="138599" y="128521"/>
                  </a:lnTo>
                  <a:lnTo>
                    <a:pt x="196560" y="141120"/>
                  </a:lnTo>
                  <a:lnTo>
                    <a:pt x="252000" y="146160"/>
                  </a:lnTo>
                  <a:lnTo>
                    <a:pt x="252000" y="283501"/>
                  </a:lnTo>
                  <a:lnTo>
                    <a:pt x="0" y="283501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(c) line 102"/>
            <p:cNvSpPr/>
            <p:nvPr/>
          </p:nvSpPr>
          <p:spPr>
            <a:xfrm>
              <a:off x="2841119" y="4573800"/>
              <a:ext cx="236881" cy="249479"/>
            </a:xfrm>
            <a:custGeom>
              <a:avLst/>
              <a:gdLst/>
              <a:ahLst/>
              <a:cxnLst/>
              <a:rect l="l" t="t" r="r" b="b"/>
              <a:pathLst>
                <a:path w="236881" h="249479">
                  <a:moveTo>
                    <a:pt x="236881" y="249479"/>
                  </a:moveTo>
                  <a:lnTo>
                    <a:pt x="161280" y="236880"/>
                  </a:lnTo>
                  <a:lnTo>
                    <a:pt x="98280" y="211680"/>
                  </a:lnTo>
                  <a:lnTo>
                    <a:pt x="50400" y="168840"/>
                  </a:lnTo>
                  <a:lnTo>
                    <a:pt x="17640" y="100799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(c) polygon 103"/>
            <p:cNvSpPr/>
            <p:nvPr/>
          </p:nvSpPr>
          <p:spPr>
            <a:xfrm>
              <a:off x="3078000" y="4858560"/>
              <a:ext cx="30239" cy="55439"/>
            </a:xfrm>
            <a:custGeom>
              <a:avLst/>
              <a:gdLst/>
              <a:ahLst/>
              <a:cxnLst/>
              <a:rect l="l" t="t" r="r" b="b"/>
              <a:pathLst>
                <a:path w="30239" h="55439">
                  <a:moveTo>
                    <a:pt x="0" y="55439"/>
                  </a:moveTo>
                  <a:lnTo>
                    <a:pt x="0" y="0"/>
                  </a:lnTo>
                  <a:lnTo>
                    <a:pt x="30239" y="0"/>
                  </a:lnTo>
                  <a:lnTo>
                    <a:pt x="30239" y="55439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(c) line 104"/>
            <p:cNvSpPr/>
            <p:nvPr/>
          </p:nvSpPr>
          <p:spPr>
            <a:xfrm>
              <a:off x="3078000" y="4858560"/>
              <a:ext cx="30239" cy="55439"/>
            </a:xfrm>
            <a:custGeom>
              <a:avLst/>
              <a:gdLst/>
              <a:ahLst/>
              <a:cxnLst/>
              <a:rect l="l" t="t" r="r" b="b"/>
              <a:pathLst>
                <a:path w="30239" h="55439">
                  <a:moveTo>
                    <a:pt x="0" y="55439"/>
                  </a:moveTo>
                  <a:lnTo>
                    <a:pt x="0" y="0"/>
                  </a:lnTo>
                  <a:lnTo>
                    <a:pt x="30239" y="0"/>
                  </a:lnTo>
                  <a:lnTo>
                    <a:pt x="30239" y="55439"/>
                  </a:lnTo>
                </a:path>
              </a:pathLst>
            </a:custGeom>
            <a:noFill/>
            <a:ln w="1270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(c) label “rotor”"/>
            <p:cNvSpPr txBox="1"/>
            <p:nvPr/>
          </p:nvSpPr>
          <p:spPr>
            <a:xfrm>
              <a:off x="1697619" y="4752060"/>
              <a:ext cx="4927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000000"/>
                  </a:solidFill>
                  <a:latin typeface="Times New Roman"/>
                </a:rPr>
                <a:t>rotor</a:t>
              </a:r>
            </a:p>
          </p:txBody>
        </p:sp>
        <p:cxnSp>
          <p:nvCxnSpPr>
            <p:cNvPr id="226" name="(c) line 106"/>
            <p:cNvCxnSpPr/>
            <p:nvPr/>
          </p:nvCxnSpPr>
          <p:spPr>
            <a:xfrm>
              <a:off x="734399" y="4913999"/>
              <a:ext cx="2469600" cy="0"/>
            </a:xfrm>
            <a:prstGeom prst="line">
              <a:avLst/>
            </a:prstGeom>
            <a:ln w="6350" cap="flat">
              <a:solidFill>
                <a:srgbClr val="6E6E6E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(c) leader 107"/>
            <p:cNvCxnSpPr/>
            <p:nvPr/>
          </p:nvCxnSpPr>
          <p:spPr>
            <a:xfrm>
              <a:off x="714307" y="4606043"/>
              <a:ext cx="315162" cy="73242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(c) label “axial AMB”"/>
            <p:cNvSpPr txBox="1"/>
            <p:nvPr/>
          </p:nvSpPr>
          <p:spPr>
            <a:xfrm>
              <a:off x="-166393" y="4515180"/>
              <a:ext cx="850392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lnSpc>
                  <a:spcPts val="132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axial AMB</a:t>
              </a:r>
            </a:p>
          </p:txBody>
        </p:sp>
        <p:cxnSp>
          <p:nvCxnSpPr>
            <p:cNvPr id="229" name="(c) leader 109"/>
            <p:cNvCxnSpPr/>
            <p:nvPr/>
          </p:nvCxnSpPr>
          <p:spPr>
            <a:xfrm flipV="1">
              <a:off x="713816" y="4807472"/>
              <a:ext cx="214024" cy="137739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(c) label “touchdown”"/>
            <p:cNvSpPr txBox="1"/>
            <p:nvPr/>
          </p:nvSpPr>
          <p:spPr>
            <a:xfrm>
              <a:off x="-166393" y="4810729"/>
              <a:ext cx="850392" cy="3073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lnSpc>
                  <a:spcPts val="121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touchdown</a:t>
              </a:r>
            </a:p>
            <a:p>
              <a:pPr algn="r">
                <a:lnSpc>
                  <a:spcPts val="121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bearing</a:t>
              </a:r>
            </a:p>
          </p:txBody>
        </p:sp>
        <p:cxnSp>
          <p:nvCxnSpPr>
            <p:cNvPr id="231" name="(c) leader 111"/>
            <p:cNvCxnSpPr/>
            <p:nvPr/>
          </p:nvCxnSpPr>
          <p:spPr>
            <a:xfrm>
              <a:off x="1304300" y="4388362"/>
              <a:ext cx="50340" cy="286329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(c) label “radial AMB”"/>
            <p:cNvSpPr txBox="1"/>
            <p:nvPr/>
          </p:nvSpPr>
          <p:spPr>
            <a:xfrm>
              <a:off x="818900" y="4216380"/>
              <a:ext cx="93980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radial AMB</a:t>
              </a:r>
            </a:p>
          </p:txBody>
        </p:sp>
        <p:cxnSp>
          <p:nvCxnSpPr>
            <p:cNvPr id="233" name="(c) leader 113"/>
            <p:cNvCxnSpPr/>
            <p:nvPr/>
          </p:nvCxnSpPr>
          <p:spPr>
            <a:xfrm>
              <a:off x="1943999" y="4388824"/>
              <a:ext cx="0" cy="235275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(c) label “stator”"/>
            <p:cNvSpPr txBox="1"/>
            <p:nvPr/>
          </p:nvSpPr>
          <p:spPr>
            <a:xfrm>
              <a:off x="1652915" y="4216380"/>
              <a:ext cx="582168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stator</a:t>
              </a:r>
            </a:p>
          </p:txBody>
        </p:sp>
        <p:cxnSp>
          <p:nvCxnSpPr>
            <p:cNvPr id="235" name="(c) leader 115"/>
            <p:cNvCxnSpPr/>
            <p:nvPr/>
          </p:nvCxnSpPr>
          <p:spPr>
            <a:xfrm flipH="1">
              <a:off x="2505717" y="4388348"/>
              <a:ext cx="52211" cy="286357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(c) label “radial AMB”"/>
            <p:cNvSpPr txBox="1"/>
            <p:nvPr/>
          </p:nvSpPr>
          <p:spPr>
            <a:xfrm>
              <a:off x="2104099" y="4216380"/>
              <a:ext cx="93980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radial AMB</a:t>
              </a:r>
            </a:p>
          </p:txBody>
        </p:sp>
        <p:cxnSp>
          <p:nvCxnSpPr>
            <p:cNvPr id="237" name="(c) leader 117"/>
            <p:cNvCxnSpPr/>
            <p:nvPr/>
          </p:nvCxnSpPr>
          <p:spPr>
            <a:xfrm flipV="1">
              <a:off x="2720533" y="5074988"/>
              <a:ext cx="248575" cy="300732"/>
            </a:xfrm>
            <a:prstGeom prst="line">
              <a:avLst/>
            </a:prstGeom>
            <a:ln w="6350">
              <a:solidFill>
                <a:srgbClr val="6E6E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(c) label “impeller, on the”"/>
            <p:cNvSpPr txBox="1"/>
            <p:nvPr/>
          </p:nvSpPr>
          <p:spPr>
            <a:xfrm>
              <a:off x="1835875" y="5399329"/>
              <a:ext cx="1476248" cy="3073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impeller, on the</a:t>
              </a:r>
            </a:p>
            <a:p>
              <a:pPr algn="ctr">
                <a:lnSpc>
                  <a:spcPts val="1210"/>
                </a:lnSpc>
              </a:pPr>
              <a:r>
                <a:rPr sz="1100" b="0" i="0">
                  <a:solidFill>
                    <a:srgbClr val="1A1A1A"/>
                  </a:solidFill>
                  <a:latin typeface="Times New Roman"/>
                </a:rPr>
                <a:t>motor shaft</a:t>
              </a:r>
            </a:p>
          </p:txBody>
        </p:sp>
        <p:sp>
          <p:nvSpPr>
            <p:cNvPr id="239" name="(c) dot 119"/>
            <p:cNvSpPr/>
            <p:nvPr/>
          </p:nvSpPr>
          <p:spPr>
            <a:xfrm>
              <a:off x="1025329" y="4665650"/>
              <a:ext cx="33021" cy="33019"/>
            </a:xfrm>
            <a:prstGeom prst="ellipse">
              <a:avLst/>
            </a:prstGeom>
            <a:solidFill>
              <a:srgbClr val="6E6E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(c) dot 120"/>
            <p:cNvSpPr/>
            <p:nvPr/>
          </p:nvSpPr>
          <p:spPr>
            <a:xfrm>
              <a:off x="922009" y="4784090"/>
              <a:ext cx="33021" cy="33019"/>
            </a:xfrm>
            <a:prstGeom prst="ellipse">
              <a:avLst/>
            </a:prstGeom>
            <a:solidFill>
              <a:srgbClr val="6E6E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(c) dot 121"/>
            <p:cNvSpPr/>
            <p:nvPr/>
          </p:nvSpPr>
          <p:spPr>
            <a:xfrm>
              <a:off x="1340330" y="4670690"/>
              <a:ext cx="33019" cy="33019"/>
            </a:xfrm>
            <a:prstGeom prst="ellipse">
              <a:avLst/>
            </a:prstGeom>
            <a:solidFill>
              <a:srgbClr val="6E6E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(c) dot 122"/>
            <p:cNvSpPr/>
            <p:nvPr/>
          </p:nvSpPr>
          <p:spPr>
            <a:xfrm>
              <a:off x="1927490" y="4620290"/>
              <a:ext cx="33019" cy="33019"/>
            </a:xfrm>
            <a:prstGeom prst="ellipse">
              <a:avLst/>
            </a:prstGeom>
            <a:solidFill>
              <a:srgbClr val="6E6E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(c) dot 123"/>
            <p:cNvSpPr/>
            <p:nvPr/>
          </p:nvSpPr>
          <p:spPr>
            <a:xfrm>
              <a:off x="2486930" y="4670690"/>
              <a:ext cx="33020" cy="33019"/>
            </a:xfrm>
            <a:prstGeom prst="ellipse">
              <a:avLst/>
            </a:prstGeom>
            <a:solidFill>
              <a:srgbClr val="6E6E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(c) dot 124"/>
            <p:cNvSpPr/>
            <p:nvPr/>
          </p:nvSpPr>
          <p:spPr>
            <a:xfrm>
              <a:off x="2960689" y="5048690"/>
              <a:ext cx="33020" cy="33019"/>
            </a:xfrm>
            <a:prstGeom prst="ellipse">
              <a:avLst/>
            </a:prstGeom>
            <a:solidFill>
              <a:srgbClr val="6E6E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